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notesMasterIdLst>
    <p:notesMasterId r:id="rId13"/>
  </p:notesMasterIdLst>
  <p:sldIdLst>
    <p:sldId id="268" r:id="rId2"/>
    <p:sldId id="270" r:id="rId3"/>
    <p:sldId id="306" r:id="rId4"/>
    <p:sldId id="310" r:id="rId5"/>
    <p:sldId id="291" r:id="rId6"/>
    <p:sldId id="297" r:id="rId7"/>
    <p:sldId id="298" r:id="rId8"/>
    <p:sldId id="285" r:id="rId9"/>
    <p:sldId id="281" r:id="rId10"/>
    <p:sldId id="309" r:id="rId11"/>
    <p:sldId id="304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399"/>
    <a:srgbClr val="CC00FF"/>
    <a:srgbClr val="144C49"/>
    <a:srgbClr val="800000"/>
    <a:srgbClr val="D1B3C8"/>
    <a:srgbClr val="F5F6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705" autoAdjust="0"/>
  </p:normalViewPr>
  <p:slideViewPr>
    <p:cSldViewPr>
      <p:cViewPr varScale="1">
        <p:scale>
          <a:sx n="66" d="100"/>
          <a:sy n="66" d="100"/>
        </p:scale>
        <p:origin x="15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052BC2-59DF-45A3-8D4F-7B068D578DC3}" type="datetimeFigureOut">
              <a:rPr lang="en-US" smtClean="0"/>
              <a:pPr/>
              <a:t>10/17/2025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5CFBD8-CEFE-46E5-BF5F-0FE35CA4D3E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503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8D0B6-591D-49E6-A03C-665EAC130B7D}" type="datetime1">
              <a:rPr lang="en-US" smtClean="0"/>
              <a:pPr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45251-63C0-4C7F-9E15-C1596FE904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94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B8E6E-CE38-4A1B-A35A-AF1CC525C5F9}" type="datetime1">
              <a:rPr lang="en-US" smtClean="0"/>
              <a:pPr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45251-63C0-4C7F-9E15-C1596FE904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72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12FC3-378F-4949-ABDC-AE0841282169}" type="datetime1">
              <a:rPr lang="en-US" smtClean="0"/>
              <a:pPr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45251-63C0-4C7F-9E15-C1596FE904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043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97583-A548-4A8D-934C-A1AD8E56B2E1}" type="datetime1">
              <a:rPr lang="en-US" smtClean="0"/>
              <a:pPr/>
              <a:t>10/17/2025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45251-63C0-4C7F-9E15-C1596FE904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515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7858-B669-41B6-8D37-BB79D31D8C18}" type="datetime1">
              <a:rPr lang="en-US" smtClean="0"/>
              <a:pPr/>
              <a:t>10/17/2025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45251-63C0-4C7F-9E15-C1596FE904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650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F0653-4FCB-4CA4-ADC2-4852C2A56530}" type="datetime1">
              <a:rPr lang="en-US" smtClean="0"/>
              <a:pPr/>
              <a:t>10/17/2025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45251-63C0-4C7F-9E15-C1596FE904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260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D1B0C-7D6B-4AB8-8EB4-56A681D03BA7}" type="datetime1">
              <a:rPr lang="en-US" smtClean="0"/>
              <a:pPr/>
              <a:t>10/17/2025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45251-63C0-4C7F-9E15-C1596FE904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415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C4D67-DA4E-4CEC-948F-F88330EC55B5}" type="datetime1">
              <a:rPr lang="en-US" smtClean="0"/>
              <a:pPr/>
              <a:t>10/17/2025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45251-63C0-4C7F-9E15-C1596FE904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58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B795-4A5E-4D43-BFF7-64B4256E2EFF}" type="datetime1">
              <a:rPr lang="en-US" smtClean="0"/>
              <a:pPr/>
              <a:t>10/17/2025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45251-63C0-4C7F-9E15-C1596FE904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708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AC153-72BF-472A-BB38-C97CAF143814}" type="datetime1">
              <a:rPr lang="en-US" smtClean="0"/>
              <a:pPr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45251-63C0-4C7F-9E15-C1596FE904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906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39223-8427-4F0A-9AF2-3AFA7BB3F62F}" type="datetime1">
              <a:rPr lang="en-US" smtClean="0"/>
              <a:pPr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45251-63C0-4C7F-9E15-C1596FE904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574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F59098-27A7-40E0-896E-9109B21E4A0A}" type="datetime1">
              <a:rPr lang="en-US" smtClean="0"/>
              <a:pPr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E45251-63C0-4C7F-9E15-C1596FE904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305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3" descr="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20" y="15920"/>
            <a:ext cx="9144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91" y="264993"/>
            <a:ext cx="3271880" cy="99230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181600" y="257031"/>
            <a:ext cx="3352800" cy="1143000"/>
          </a:xfrm>
        </p:spPr>
        <p:txBody>
          <a:bodyPr>
            <a:normAutofit/>
          </a:bodyPr>
          <a:lstStyle/>
          <a:p>
            <a:r>
              <a:rPr lang="en-US" sz="4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AD2399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rial Black" panose="020B0A04020102020204" pitchFamily="34" charset="0"/>
              </a:rPr>
              <a:t>Software</a:t>
            </a:r>
          </a:p>
        </p:txBody>
      </p:sp>
      <p:pic>
        <p:nvPicPr>
          <p:cNvPr id="15" name="Content Placeholder 14"/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100" y="1240955"/>
            <a:ext cx="838200" cy="718489"/>
          </a:xfrm>
        </p:spPr>
      </p:pic>
      <p:cxnSp>
        <p:nvCxnSpPr>
          <p:cNvPr id="7" name="Straight Connector 6"/>
          <p:cNvCxnSpPr/>
          <p:nvPr/>
        </p:nvCxnSpPr>
        <p:spPr>
          <a:xfrm>
            <a:off x="228600" y="1600200"/>
            <a:ext cx="381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181600" y="1600200"/>
            <a:ext cx="381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65868" y="6263217"/>
            <a:ext cx="54781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Software Updates Review from </a:t>
            </a:r>
            <a:r>
              <a:rPr lang="en-IN" sz="2000" b="1" dirty="0">
                <a:solidFill>
                  <a:schemeClr val="bg1"/>
                </a:solidFill>
              </a:rPr>
              <a:t>Apr-2025</a:t>
            </a:r>
            <a:r>
              <a:rPr lang="en-IN" b="1" dirty="0">
                <a:solidFill>
                  <a:schemeClr val="bg1"/>
                </a:solidFill>
              </a:rPr>
              <a:t> To Sep-2025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8750" y="1257300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AD2399"/>
                </a:solidFill>
              </a:rPr>
              <a:t>Griha Software Technologies Pvt. Ltd.</a:t>
            </a:r>
          </a:p>
        </p:txBody>
      </p:sp>
      <p:sp>
        <p:nvSpPr>
          <p:cNvPr id="2" name="Rectangle 1"/>
          <p:cNvSpPr/>
          <p:nvPr/>
        </p:nvSpPr>
        <p:spPr>
          <a:xfrm>
            <a:off x="-11373" y="1626632"/>
            <a:ext cx="4876800" cy="187743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AD2399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rial Black" panose="020B0A04020102020204" pitchFamily="34" charset="0"/>
              </a:rPr>
              <a:t>WELCOME</a:t>
            </a:r>
          </a:p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AD2399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rial Black" panose="020B0A04020102020204" pitchFamily="34" charset="0"/>
              </a:rPr>
              <a:t>TO</a:t>
            </a:r>
          </a:p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AD2399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rial Black" panose="020B0A04020102020204" pitchFamily="34" charset="0"/>
              </a:rPr>
              <a:t>34</a:t>
            </a:r>
            <a:r>
              <a:rPr lang="en-US" sz="2800" b="1" baseline="300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AD2399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rial Black" panose="020B0A04020102020204" pitchFamily="34" charset="0"/>
              </a:rPr>
              <a:t>th</a:t>
            </a:r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AD2399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rial Black" panose="020B0A04020102020204" pitchFamily="34" charset="0"/>
              </a:rPr>
              <a:t> MANAGEMENT REVIEW MEETING</a:t>
            </a:r>
            <a:endParaRPr lang="en-GB" sz="2800" b="1" dirty="0">
              <a:ln w="9525">
                <a:solidFill>
                  <a:schemeClr val="bg1"/>
                </a:solidFill>
                <a:prstDash val="solid"/>
              </a:ln>
              <a:solidFill>
                <a:srgbClr val="AD2399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425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Straight Connector 112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7807890" y="6488668"/>
            <a:ext cx="1412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@2003-2017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922568" y="6575076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@</a:t>
            </a:r>
            <a:r>
              <a:rPr lang="en-US" sz="1200" dirty="0">
                <a:solidFill>
                  <a:schemeClr val="bg1"/>
                </a:solidFill>
              </a:rPr>
              <a:t>2003-2020</a:t>
            </a:r>
          </a:p>
        </p:txBody>
      </p:sp>
      <p:pic>
        <p:nvPicPr>
          <p:cNvPr id="137" name="Picture 13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30" y="142296"/>
            <a:ext cx="3271880" cy="992307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2285225" y="5879746"/>
            <a:ext cx="4793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Griha Software Technologies Pvt. Ltd.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019800"/>
            <a:ext cx="9146088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/>
              <a:t>ISO  9001 : 2015 And</a:t>
            </a:r>
          </a:p>
          <a:p>
            <a:pPr algn="ctr"/>
            <a:r>
              <a:rPr lang="en-US" sz="2800" dirty="0"/>
              <a:t> ISO  27001 : 2013 Certified  Company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07890" y="6555985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@</a:t>
            </a:r>
            <a:r>
              <a:rPr lang="en-US" sz="1200" dirty="0">
                <a:solidFill>
                  <a:schemeClr val="bg1"/>
                </a:solidFill>
              </a:rPr>
              <a:t>2003-2025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70259"/>
            <a:ext cx="1181937" cy="118193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038600" y="365207"/>
            <a:ext cx="2514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/>
              <a:t>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430" y="1212134"/>
            <a:ext cx="8558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u="sng" dirty="0">
                <a:solidFill>
                  <a:srgbClr val="002060"/>
                </a:solidFill>
              </a:rPr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6264" y="3101879"/>
            <a:ext cx="871799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eriod"/>
            </a:pPr>
            <a:r>
              <a:rPr lang="en-IN" sz="2400" dirty="0"/>
              <a:t>Delivered new “QC Item - on screen edit” module in GOP application and it is developed using </a:t>
            </a:r>
            <a:r>
              <a:rPr lang="en-IN" sz="2400" dirty="0">
                <a:solidFill>
                  <a:schemeClr val="bg2">
                    <a:lumMod val="10000"/>
                  </a:schemeClr>
                </a:solidFill>
              </a:rPr>
              <a:t>3-tier architecture.</a:t>
            </a:r>
          </a:p>
          <a:p>
            <a:pPr marL="342900" indent="-342900" algn="just">
              <a:buAutoNum type="arabicPeriod"/>
            </a:pPr>
            <a:r>
              <a:rPr lang="en-IN" sz="2400" dirty="0">
                <a:solidFill>
                  <a:schemeClr val="bg2">
                    <a:lumMod val="10000"/>
                  </a:schemeClr>
                </a:solidFill>
              </a:rPr>
              <a:t>Development of “GAT” module in GOP application is in progress</a:t>
            </a:r>
          </a:p>
          <a:p>
            <a:pPr marL="342900" indent="-342900" algn="just">
              <a:buAutoNum type="arabicPeriod"/>
            </a:pPr>
            <a:r>
              <a:rPr lang="en-IN" sz="2400" dirty="0">
                <a:solidFill>
                  <a:schemeClr val="bg2">
                    <a:lumMod val="10000"/>
                  </a:schemeClr>
                </a:solidFill>
              </a:rPr>
              <a:t>Delivered 19 enhancements from GRIDS and 44 enhancements from GOP</a:t>
            </a:r>
          </a:p>
          <a:p>
            <a:pPr marL="342900" indent="-342900" algn="just">
              <a:buAutoNum type="arabicPeriod"/>
            </a:pPr>
            <a:r>
              <a:rPr lang="en-IN" sz="2400" dirty="0">
                <a:solidFill>
                  <a:schemeClr val="bg2">
                    <a:lumMod val="10000"/>
                  </a:schemeClr>
                </a:solidFill>
              </a:rPr>
              <a:t>Resolved 2 bugs from GRIDS and 5 from GOP</a:t>
            </a:r>
          </a:p>
          <a:p>
            <a:pPr marL="342900" indent="-342900" algn="just">
              <a:buAutoNum type="arabicPeriod"/>
            </a:pPr>
            <a:r>
              <a:rPr lang="en-IN" sz="2400" dirty="0">
                <a:solidFill>
                  <a:schemeClr val="bg2">
                    <a:lumMod val="10000"/>
                  </a:schemeClr>
                </a:solidFill>
              </a:rPr>
              <a:t>Served 26 data manipulation requirements from GRIDS and 19 from GOP</a:t>
            </a:r>
            <a:endParaRPr lang="en-IN" sz="16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8430" y="2754119"/>
            <a:ext cx="1806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 </a:t>
            </a:r>
            <a:r>
              <a:rPr lang="en-IN" u="sng" dirty="0">
                <a:solidFill>
                  <a:srgbClr val="002060"/>
                </a:solidFill>
              </a:rPr>
              <a:t>Accomplishment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5CC8743-3B64-FE3E-D969-E0A86916F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276313"/>
              </p:ext>
            </p:extLst>
          </p:nvPr>
        </p:nvGraphicFramePr>
        <p:xfrm>
          <a:off x="226264" y="1598439"/>
          <a:ext cx="8789306" cy="1153067"/>
        </p:xfrm>
        <a:graphic>
          <a:graphicData uri="http://schemas.openxmlformats.org/drawingml/2006/table">
            <a:tbl>
              <a:tblPr firstRow="1" bandRow="1"/>
              <a:tblGrid>
                <a:gridCol w="649024">
                  <a:extLst>
                    <a:ext uri="{9D8B030D-6E8A-4147-A177-3AD203B41FA5}">
                      <a16:colId xmlns:a16="http://schemas.microsoft.com/office/drawing/2014/main" val="2212337898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592084174"/>
                    </a:ext>
                  </a:extLst>
                </a:gridCol>
                <a:gridCol w="1410712">
                  <a:extLst>
                    <a:ext uri="{9D8B030D-6E8A-4147-A177-3AD203B41FA5}">
                      <a16:colId xmlns:a16="http://schemas.microsoft.com/office/drawing/2014/main" val="194380552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067099368"/>
                    </a:ext>
                  </a:extLst>
                </a:gridCol>
                <a:gridCol w="1408688">
                  <a:extLst>
                    <a:ext uri="{9D8B030D-6E8A-4147-A177-3AD203B41FA5}">
                      <a16:colId xmlns:a16="http://schemas.microsoft.com/office/drawing/2014/main" val="2430601852"/>
                    </a:ext>
                  </a:extLst>
                </a:gridCol>
                <a:gridCol w="1206082">
                  <a:extLst>
                    <a:ext uri="{9D8B030D-6E8A-4147-A177-3AD203B41FA5}">
                      <a16:colId xmlns:a16="http://schemas.microsoft.com/office/drawing/2014/main" val="1591797604"/>
                    </a:ext>
                  </a:extLst>
                </a:gridCol>
              </a:tblGrid>
              <a:tr h="54208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2060"/>
                          </a:highlight>
                          <a:latin typeface="Calibri" panose="020F0502020204030204" pitchFamily="34" charset="0"/>
                        </a:rPr>
                        <a:t>Sl. No.</a:t>
                      </a:r>
                    </a:p>
                  </a:txBody>
                  <a:tcPr marL="9114" marR="9114" marT="911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2060"/>
                          </a:highlight>
                          <a:latin typeface="Calibri" panose="020F0502020204030204" pitchFamily="34" charset="0"/>
                        </a:rPr>
                        <a:t>Resource</a:t>
                      </a:r>
                    </a:p>
                  </a:txBody>
                  <a:tcPr marL="9114" marR="9114" marT="911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02060"/>
                          </a:highlight>
                          <a:latin typeface="Calibri" panose="020F0502020204030204" pitchFamily="34" charset="0"/>
                        </a:rPr>
                        <a:t>Project</a:t>
                      </a:r>
                    </a:p>
                  </a:txBody>
                  <a:tcPr marL="9114" marR="9114" marT="911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02060"/>
                          </a:highlight>
                          <a:latin typeface="Calibri" panose="020F0502020204030204" pitchFamily="34" charset="0"/>
                        </a:rPr>
                        <a:t>Designation</a:t>
                      </a:r>
                    </a:p>
                  </a:txBody>
                  <a:tcPr marL="9114" marR="9114" marT="911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2060"/>
                          </a:highlight>
                          <a:latin typeface="Calibri" panose="020F0502020204030204" pitchFamily="34" charset="0"/>
                        </a:rPr>
                        <a:t>Working For</a:t>
                      </a:r>
                    </a:p>
                  </a:txBody>
                  <a:tcPr marL="9114" marR="9114" marT="911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2060"/>
                          </a:highlight>
                          <a:latin typeface="Calibri" panose="020F0502020204030204" pitchFamily="34" charset="0"/>
                        </a:rPr>
                        <a:t>Experience</a:t>
                      </a:r>
                    </a:p>
                  </a:txBody>
                  <a:tcPr marL="9114" marR="9114" marT="911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590149"/>
                  </a:ext>
                </a:extLst>
              </a:tr>
              <a:tr h="610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2DEEF"/>
                          </a:highlight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114" marR="9114" marT="911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2DEEF"/>
                          </a:highlight>
                          <a:latin typeface="Calibri" panose="020F0502020204030204" pitchFamily="34" charset="0"/>
                        </a:rPr>
                        <a:t> Vinod R. Chougule</a:t>
                      </a:r>
                    </a:p>
                  </a:txBody>
                  <a:tcPr marL="9114" marR="9114" marT="911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2DEEF"/>
                          </a:highlight>
                          <a:latin typeface="Calibri" panose="020F0502020204030204" pitchFamily="34" charset="0"/>
                        </a:rPr>
                        <a:t>All</a:t>
                      </a:r>
                    </a:p>
                  </a:txBody>
                  <a:tcPr marL="9114" marR="9114" marT="911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2DEEF"/>
                          </a:highlight>
                          <a:latin typeface="Calibri" panose="020F0502020204030204" pitchFamily="34" charset="0"/>
                        </a:rPr>
                        <a:t>Developer</a:t>
                      </a:r>
                    </a:p>
                  </a:txBody>
                  <a:tcPr marL="9114" marR="9114" marT="911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2DEEF"/>
                          </a:highlight>
                          <a:latin typeface="Calibri" panose="020F0502020204030204" pitchFamily="34" charset="0"/>
                        </a:rPr>
                        <a:t>Grihasoft</a:t>
                      </a:r>
                    </a:p>
                  </a:txBody>
                  <a:tcPr marL="9114" marR="9114" marT="911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2DEEF"/>
                          </a:highlight>
                          <a:latin typeface="Calibri" panose="020F0502020204030204" pitchFamily="34" charset="0"/>
                        </a:rPr>
                        <a:t>13+ years</a:t>
                      </a:r>
                    </a:p>
                  </a:txBody>
                  <a:tcPr marL="9114" marR="9114" marT="911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301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7927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Straight Connector 112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/>
          <p:cNvSpPr txBox="1">
            <a:spLocks noGrp="1"/>
          </p:cNvSpPr>
          <p:nvPr>
            <p:ph type="title"/>
          </p:nvPr>
        </p:nvSpPr>
        <p:spPr>
          <a:xfrm>
            <a:off x="2978155" y="542761"/>
            <a:ext cx="5166527" cy="6223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2400" b="1" dirty="0"/>
              <a:t>QC Item Edit Screen - GOP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47" y="153596"/>
            <a:ext cx="3271880" cy="99230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95909" y="322503"/>
            <a:ext cx="1163542" cy="6544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22568" y="6575076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@</a:t>
            </a:r>
            <a:r>
              <a:rPr lang="en-US" sz="1200" dirty="0">
                <a:solidFill>
                  <a:schemeClr val="bg1"/>
                </a:solidFill>
              </a:rPr>
              <a:t>2003-2021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175376"/>
            <a:ext cx="9146088" cy="668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/>
              <a:t>ISO  9001 : 2015 And</a:t>
            </a:r>
          </a:p>
          <a:p>
            <a:pPr algn="ctr"/>
            <a:r>
              <a:rPr lang="en-US" sz="2800" dirty="0"/>
              <a:t> ISO  27001 : 2013 Certified  Company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D1FE59-0CFC-9132-4466-71C9476DD334}"/>
              </a:ext>
            </a:extLst>
          </p:cNvPr>
          <p:cNvSpPr txBox="1"/>
          <p:nvPr/>
        </p:nvSpPr>
        <p:spPr>
          <a:xfrm>
            <a:off x="7807890" y="6555985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@</a:t>
            </a:r>
            <a:r>
              <a:rPr lang="en-US" sz="1200" dirty="0">
                <a:solidFill>
                  <a:schemeClr val="bg1"/>
                </a:solidFill>
              </a:rPr>
              <a:t>2003-2025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E91008-67CF-5198-AC51-DFF35AF159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116" y="1424614"/>
            <a:ext cx="6855768" cy="469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984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46C73-485E-A75C-EB7F-A882A29BE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F82AE57B-5ED2-732D-A9D6-2815F0F5FBD6}"/>
              </a:ext>
            </a:extLst>
          </p:cNvPr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37F23C4A-8C11-1353-A76E-DC78458613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78155" y="542761"/>
            <a:ext cx="5166527" cy="6223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2400" b="1" dirty="0"/>
              <a:t>GAT Functions - GOP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5B3CC4D-DF9E-A5C4-D160-37BBC37E81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47" y="153596"/>
            <a:ext cx="3271880" cy="9923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3D72FA5-9E59-6B4E-C54F-F5C0365002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95909" y="322503"/>
            <a:ext cx="1163542" cy="65449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39859CE-E9D2-FD34-EE0E-D2C52EE3071D}"/>
              </a:ext>
            </a:extLst>
          </p:cNvPr>
          <p:cNvSpPr txBox="1"/>
          <p:nvPr/>
        </p:nvSpPr>
        <p:spPr>
          <a:xfrm>
            <a:off x="7922568" y="6575076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@</a:t>
            </a:r>
            <a:r>
              <a:rPr lang="en-US" sz="1200" dirty="0">
                <a:solidFill>
                  <a:schemeClr val="bg1"/>
                </a:solidFill>
              </a:rPr>
              <a:t>2003-2021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F7802A-6FFE-93D0-9027-159CAE9361C2}"/>
              </a:ext>
            </a:extLst>
          </p:cNvPr>
          <p:cNvSpPr/>
          <p:nvPr/>
        </p:nvSpPr>
        <p:spPr>
          <a:xfrm>
            <a:off x="0" y="6175376"/>
            <a:ext cx="9146088" cy="668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/>
              <a:t>ISO  9001 : 2015 And</a:t>
            </a:r>
          </a:p>
          <a:p>
            <a:pPr algn="ctr"/>
            <a:r>
              <a:rPr lang="en-US" sz="2800" dirty="0"/>
              <a:t> ISO  27001 : 2013 Certified  Company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6EBAD9-8CDF-ED9A-B6AF-7E1F8E901D0C}"/>
              </a:ext>
            </a:extLst>
          </p:cNvPr>
          <p:cNvSpPr txBox="1"/>
          <p:nvPr/>
        </p:nvSpPr>
        <p:spPr>
          <a:xfrm>
            <a:off x="7807890" y="6555985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@</a:t>
            </a:r>
            <a:r>
              <a:rPr lang="en-US" sz="1200" dirty="0">
                <a:solidFill>
                  <a:schemeClr val="bg1"/>
                </a:solidFill>
              </a:rPr>
              <a:t>2003-2025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0EDE42-AA05-9426-FB96-54B45EFB64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66162"/>
            <a:ext cx="7848600" cy="473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648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Straight Connector 112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/>
          <p:cNvSpPr txBox="1">
            <a:spLocks noGrp="1"/>
          </p:cNvSpPr>
          <p:nvPr>
            <p:ph type="title"/>
          </p:nvPr>
        </p:nvSpPr>
        <p:spPr>
          <a:xfrm>
            <a:off x="3191930" y="338599"/>
            <a:ext cx="5166527" cy="6223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Software SLA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47" y="153596"/>
            <a:ext cx="3271880" cy="99230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909" y="67978"/>
            <a:ext cx="1163542" cy="116354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22568" y="6575076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@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2003-2021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019800"/>
            <a:ext cx="9146088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ISO  9001 : 2015 And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ISO  27001 : 2013 Certified  Company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1296988"/>
            <a:ext cx="9137374" cy="92333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Schedule Adherence :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remain 90% and above for all planned delivery activities. Report on  Planned duration versus Actual duration for a given requirement’s delivery is recorded and Analysed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47" y="2185101"/>
            <a:ext cx="329738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GRIDS -  Enhancements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62400" y="2148527"/>
            <a:ext cx="328889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GOP - Enhancements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66383" y="5499045"/>
            <a:ext cx="3700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Total GRIDS Enhancements : 19 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4748" y="5499045"/>
            <a:ext cx="2981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Total GOP Enhancements : 44 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9D266D4-E753-CBD5-5EDA-BC2230F53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343290"/>
              </p:ext>
            </p:extLst>
          </p:nvPr>
        </p:nvGraphicFramePr>
        <p:xfrm>
          <a:off x="646406" y="2700430"/>
          <a:ext cx="3700817" cy="2578186"/>
        </p:xfrm>
        <a:graphic>
          <a:graphicData uri="http://schemas.openxmlformats.org/drawingml/2006/table">
            <a:tbl>
              <a:tblPr/>
              <a:tblGrid>
                <a:gridCol w="596510">
                  <a:extLst>
                    <a:ext uri="{9D8B030D-6E8A-4147-A177-3AD203B41FA5}">
                      <a16:colId xmlns:a16="http://schemas.microsoft.com/office/drawing/2014/main" val="323579724"/>
                    </a:ext>
                  </a:extLst>
                </a:gridCol>
                <a:gridCol w="978306">
                  <a:extLst>
                    <a:ext uri="{9D8B030D-6E8A-4147-A177-3AD203B41FA5}">
                      <a16:colId xmlns:a16="http://schemas.microsoft.com/office/drawing/2014/main" val="2277307085"/>
                    </a:ext>
                  </a:extLst>
                </a:gridCol>
                <a:gridCol w="1102371">
                  <a:extLst>
                    <a:ext uri="{9D8B030D-6E8A-4147-A177-3AD203B41FA5}">
                      <a16:colId xmlns:a16="http://schemas.microsoft.com/office/drawing/2014/main" val="1048574591"/>
                    </a:ext>
                  </a:extLst>
                </a:gridCol>
                <a:gridCol w="1023630">
                  <a:extLst>
                    <a:ext uri="{9D8B030D-6E8A-4147-A177-3AD203B41FA5}">
                      <a16:colId xmlns:a16="http://schemas.microsoft.com/office/drawing/2014/main" val="257375979"/>
                    </a:ext>
                  </a:extLst>
                </a:gridCol>
              </a:tblGrid>
              <a:tr h="49822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Month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Planned Tasks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Completed Tasks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Completion (%)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740078"/>
                  </a:ext>
                </a:extLst>
              </a:tr>
              <a:tr h="3481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Apr-25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972374"/>
                  </a:ext>
                </a:extLst>
              </a:tr>
              <a:tr h="33944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178488"/>
                  </a:ext>
                </a:extLst>
              </a:tr>
              <a:tr h="3481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540886"/>
                  </a:ext>
                </a:extLst>
              </a:tr>
              <a:tr h="3481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Jul-25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1561869"/>
                  </a:ext>
                </a:extLst>
              </a:tr>
              <a:tr h="3481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Aug-25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358212"/>
                  </a:ext>
                </a:extLst>
              </a:tr>
              <a:tr h="3481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Sep-25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68692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AE3638F-559D-43EC-DBD7-EEA6968C29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329700"/>
              </p:ext>
            </p:extLst>
          </p:nvPr>
        </p:nvGraphicFramePr>
        <p:xfrm>
          <a:off x="4568686" y="2700431"/>
          <a:ext cx="4041913" cy="2510005"/>
        </p:xfrm>
        <a:graphic>
          <a:graphicData uri="http://schemas.openxmlformats.org/drawingml/2006/table">
            <a:tbl>
              <a:tblPr firstRow="1" bandRow="1"/>
              <a:tblGrid>
                <a:gridCol w="731157">
                  <a:extLst>
                    <a:ext uri="{9D8B030D-6E8A-4147-A177-3AD203B41FA5}">
                      <a16:colId xmlns:a16="http://schemas.microsoft.com/office/drawing/2014/main" val="2878095082"/>
                    </a:ext>
                  </a:extLst>
                </a:gridCol>
                <a:gridCol w="893943">
                  <a:extLst>
                    <a:ext uri="{9D8B030D-6E8A-4147-A177-3AD203B41FA5}">
                      <a16:colId xmlns:a16="http://schemas.microsoft.com/office/drawing/2014/main" val="4113645493"/>
                    </a:ext>
                  </a:extLst>
                </a:gridCol>
                <a:gridCol w="1218824">
                  <a:extLst>
                    <a:ext uri="{9D8B030D-6E8A-4147-A177-3AD203B41FA5}">
                      <a16:colId xmlns:a16="http://schemas.microsoft.com/office/drawing/2014/main" val="565802754"/>
                    </a:ext>
                  </a:extLst>
                </a:gridCol>
                <a:gridCol w="1197989">
                  <a:extLst>
                    <a:ext uri="{9D8B030D-6E8A-4147-A177-3AD203B41FA5}">
                      <a16:colId xmlns:a16="http://schemas.microsoft.com/office/drawing/2014/main" val="444520129"/>
                    </a:ext>
                  </a:extLst>
                </a:gridCol>
              </a:tblGrid>
              <a:tr h="49594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Month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Planned Tasks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Completed Tasks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Completion (%)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42482"/>
                  </a:ext>
                </a:extLst>
              </a:tr>
              <a:tr h="33105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Apr-25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606894"/>
                  </a:ext>
                </a:extLst>
              </a:tr>
              <a:tr h="35876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255353"/>
                  </a:ext>
                </a:extLst>
              </a:tr>
              <a:tr h="33105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706664"/>
                  </a:ext>
                </a:extLst>
              </a:tr>
              <a:tr h="33105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Jul-25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610286"/>
                  </a:ext>
                </a:extLst>
              </a:tr>
              <a:tr h="33105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Aug-25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270512"/>
                  </a:ext>
                </a:extLst>
              </a:tr>
              <a:tr h="33105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Sep-25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68596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D2E89B7-DDE8-4A88-B2C6-E2709F7AE2A3}"/>
              </a:ext>
            </a:extLst>
          </p:cNvPr>
          <p:cNvSpPr txBox="1"/>
          <p:nvPr/>
        </p:nvSpPr>
        <p:spPr>
          <a:xfrm>
            <a:off x="7807890" y="6555985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@</a:t>
            </a:r>
            <a:r>
              <a:rPr lang="en-US" sz="1200" dirty="0">
                <a:solidFill>
                  <a:schemeClr val="bg1"/>
                </a:solidFill>
              </a:rPr>
              <a:t>2003-2025</a:t>
            </a:r>
          </a:p>
        </p:txBody>
      </p:sp>
    </p:spTree>
    <p:extLst>
      <p:ext uri="{BB962C8B-B14F-4D97-AF65-F5344CB8AC3E}">
        <p14:creationId xmlns:p14="http://schemas.microsoft.com/office/powerpoint/2010/main" val="3829247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Straight Connector 112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/>
          <p:cNvSpPr txBox="1">
            <a:spLocks noGrp="1"/>
          </p:cNvSpPr>
          <p:nvPr>
            <p:ph type="title"/>
          </p:nvPr>
        </p:nvSpPr>
        <p:spPr>
          <a:xfrm>
            <a:off x="3191930" y="338599"/>
            <a:ext cx="5166527" cy="6223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Software SLA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47" y="153596"/>
            <a:ext cx="3271880" cy="99230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19387" y="1285984"/>
            <a:ext cx="2397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Fault Slip Through :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70229" y="1354203"/>
            <a:ext cx="66737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No. of incidences has to be below 10 during the beta testing time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909" y="67978"/>
            <a:ext cx="1163542" cy="116354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22568" y="6575076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@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2003-2021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019800"/>
            <a:ext cx="9146088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ISO  9001 : 2015 And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ISO  27001 : 2013 Certified  Company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329" y="3830244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Trouble Ticket Closure: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876802" y="3792591"/>
            <a:ext cx="6150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These are the bugs that are noticed in a deployed and running system, which is under maintenance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6D34CD4-E763-2E08-5B85-437C6B8540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553558"/>
              </p:ext>
            </p:extLst>
          </p:nvPr>
        </p:nvGraphicFramePr>
        <p:xfrm>
          <a:off x="296329" y="4302543"/>
          <a:ext cx="8331992" cy="1651789"/>
        </p:xfrm>
        <a:graphic>
          <a:graphicData uri="http://schemas.openxmlformats.org/drawingml/2006/table">
            <a:tbl>
              <a:tblPr/>
              <a:tblGrid>
                <a:gridCol w="465671">
                  <a:extLst>
                    <a:ext uri="{9D8B030D-6E8A-4147-A177-3AD203B41FA5}">
                      <a16:colId xmlns:a16="http://schemas.microsoft.com/office/drawing/2014/main" val="1937462370"/>
                    </a:ext>
                  </a:extLst>
                </a:gridCol>
                <a:gridCol w="4621453">
                  <a:extLst>
                    <a:ext uri="{9D8B030D-6E8A-4147-A177-3AD203B41FA5}">
                      <a16:colId xmlns:a16="http://schemas.microsoft.com/office/drawing/2014/main" val="1024805030"/>
                    </a:ext>
                  </a:extLst>
                </a:gridCol>
                <a:gridCol w="1125842">
                  <a:extLst>
                    <a:ext uri="{9D8B030D-6E8A-4147-A177-3AD203B41FA5}">
                      <a16:colId xmlns:a16="http://schemas.microsoft.com/office/drawing/2014/main" val="2445568828"/>
                    </a:ext>
                  </a:extLst>
                </a:gridCol>
                <a:gridCol w="1200898">
                  <a:extLst>
                    <a:ext uri="{9D8B030D-6E8A-4147-A177-3AD203B41FA5}">
                      <a16:colId xmlns:a16="http://schemas.microsoft.com/office/drawing/2014/main" val="3189402193"/>
                    </a:ext>
                  </a:extLst>
                </a:gridCol>
                <a:gridCol w="918128">
                  <a:extLst>
                    <a:ext uri="{9D8B030D-6E8A-4147-A177-3AD203B41FA5}">
                      <a16:colId xmlns:a16="http://schemas.microsoft.com/office/drawing/2014/main" val="757907852"/>
                    </a:ext>
                  </a:extLst>
                </a:gridCol>
              </a:tblGrid>
              <a:tr h="230520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S.No.</a:t>
                      </a:r>
                    </a:p>
                  </a:txBody>
                  <a:tcPr marL="7084" marR="7084" marT="708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7084" marR="7084" marT="708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Reported On</a:t>
                      </a:r>
                    </a:p>
                  </a:txBody>
                  <a:tcPr marL="7084" marR="7084" marT="708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Resolved On</a:t>
                      </a:r>
                    </a:p>
                  </a:txBody>
                  <a:tcPr marL="7084" marR="7084" marT="708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Project</a:t>
                      </a:r>
                    </a:p>
                  </a:txBody>
                  <a:tcPr marL="7084" marR="7084" marT="70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572647"/>
                  </a:ext>
                </a:extLst>
              </a:tr>
              <a:tr h="38262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084" marR="7084" marT="70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Check horizontal scrollbar is not appearing in "Leave Approval" tab of "Apply Leave" page</a:t>
                      </a:r>
                    </a:p>
                  </a:txBody>
                  <a:tcPr marL="7084" marR="7084" marT="70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17-Jun-25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20-Jun-25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GRIDS - LMS</a:t>
                      </a:r>
                    </a:p>
                  </a:txBody>
                  <a:tcPr marL="7084" marR="7084" marT="70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368165"/>
                  </a:ext>
                </a:extLst>
              </a:tr>
              <a:tr h="4684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084" marR="7084" marT="70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 able to apply for "Comp Off" as "Apply" button is disappearing on selecting this leave type. Please check it.</a:t>
                      </a:r>
                    </a:p>
                  </a:txBody>
                  <a:tcPr marL="7084" marR="7084" marT="70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31-Jul-25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01-Aug-25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GRIDS - LMS</a:t>
                      </a:r>
                    </a:p>
                  </a:txBody>
                  <a:tcPr marL="7084" marR="7084" marT="70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579685"/>
                  </a:ext>
                </a:extLst>
              </a:tr>
              <a:tr h="57018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084" marR="7084" marT="70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 Projects List Delivered tab, application is showing "Delivered Count" in "Delivered Date" column. Please correct this.</a:t>
                      </a:r>
                    </a:p>
                  </a:txBody>
                  <a:tcPr marL="7084" marR="7084" marT="70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18-Jun-25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23-Jun-25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GOP - Production</a:t>
                      </a:r>
                    </a:p>
                  </a:txBody>
                  <a:tcPr marL="7084" marR="7084" marT="70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303669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277644B-A8E4-8564-E925-3A4FC2E57D9D}"/>
              </a:ext>
            </a:extLst>
          </p:cNvPr>
          <p:cNvSpPr txBox="1"/>
          <p:nvPr/>
        </p:nvSpPr>
        <p:spPr>
          <a:xfrm>
            <a:off x="7807890" y="6555985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@</a:t>
            </a:r>
            <a:r>
              <a:rPr lang="en-US" sz="1200" dirty="0">
                <a:solidFill>
                  <a:schemeClr val="bg1"/>
                </a:solidFill>
              </a:rPr>
              <a:t>2003-2025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FDEAE0-87ED-C6C3-9E1B-7634B17CE2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814429"/>
              </p:ext>
            </p:extLst>
          </p:nvPr>
        </p:nvGraphicFramePr>
        <p:xfrm>
          <a:off x="296329" y="1645619"/>
          <a:ext cx="8331991" cy="2103682"/>
        </p:xfrm>
        <a:graphic>
          <a:graphicData uri="http://schemas.openxmlformats.org/drawingml/2006/table">
            <a:tbl>
              <a:tblPr/>
              <a:tblGrid>
                <a:gridCol w="465671">
                  <a:extLst>
                    <a:ext uri="{9D8B030D-6E8A-4147-A177-3AD203B41FA5}">
                      <a16:colId xmlns:a16="http://schemas.microsoft.com/office/drawing/2014/main" val="193746237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102480503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44556882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189402193"/>
                    </a:ext>
                  </a:extLst>
                </a:gridCol>
                <a:gridCol w="1008320">
                  <a:extLst>
                    <a:ext uri="{9D8B030D-6E8A-4147-A177-3AD203B41FA5}">
                      <a16:colId xmlns:a16="http://schemas.microsoft.com/office/drawing/2014/main" val="757907852"/>
                    </a:ext>
                  </a:extLst>
                </a:gridCol>
              </a:tblGrid>
              <a:tr h="160477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S.No.</a:t>
                      </a:r>
                    </a:p>
                  </a:txBody>
                  <a:tcPr marL="7084" marR="7084" marT="708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7084" marR="7084" marT="708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Reported On</a:t>
                      </a:r>
                    </a:p>
                  </a:txBody>
                  <a:tcPr marL="7084" marR="7084" marT="708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Resolved On</a:t>
                      </a:r>
                    </a:p>
                  </a:txBody>
                  <a:tcPr marL="7084" marR="7084" marT="708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Project</a:t>
                      </a:r>
                    </a:p>
                  </a:txBody>
                  <a:tcPr marL="7084" marR="7084" marT="70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572647"/>
                  </a:ext>
                </a:extLst>
              </a:tr>
              <a:tr h="22704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084" marR="7084" marT="70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"QC Item Details Edit Screen" is showing the message "Please select the level" even after selecting the QC level. Please check it.</a:t>
                      </a:r>
                    </a:p>
                  </a:txBody>
                  <a:tcPr marL="7084" marR="7084" marT="708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04-Jun-25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05-Jun-25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GOP – QC</a:t>
                      </a:r>
                    </a:p>
                  </a:txBody>
                  <a:tcPr marL="7084" marR="7084" marT="70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368165"/>
                  </a:ext>
                </a:extLst>
              </a:tr>
              <a:tr h="22704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084" marR="7084" marT="70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 able to select "Level" option from the "Production Edit item screen". After selecting the option, it is turning OFF automatically. Please check it.</a:t>
                      </a:r>
                    </a:p>
                  </a:txBody>
                  <a:tcPr marL="7084" marR="7084" marT="70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04-Jun-25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06-Jun-25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GOP – Production</a:t>
                      </a:r>
                    </a:p>
                  </a:txBody>
                  <a:tcPr marL="7084" marR="7084" marT="70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579685"/>
                  </a:ext>
                </a:extLst>
              </a:tr>
              <a:tr h="89270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084" marR="7084" marT="70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 the following changes in QC pages,</a:t>
                      </a:r>
                    </a:p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 On changing QC attribute value, New Short/Long Description is not changing</a:t>
                      </a:r>
                    </a:p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 Rejected Item not displayed in QC Items List. Check this.</a:t>
                      </a:r>
                    </a:p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 On changing QC Attribute Value, it is changing for other attributes too the same value</a:t>
                      </a:r>
                    </a:p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 On changing the QC Attribute Value comments, it is showing "no change have been done to save message</a:t>
                      </a:r>
                    </a:p>
                  </a:txBody>
                  <a:tcPr marL="7084" marR="7084" marT="70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23-Jun-25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27-Jun-25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GOP – QC</a:t>
                      </a:r>
                    </a:p>
                  </a:txBody>
                  <a:tcPr marL="7084" marR="7084" marT="70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3036694"/>
                  </a:ext>
                </a:extLst>
              </a:tr>
              <a:tr h="3379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084" marR="7084" marT="70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Find Missing, Repeated and, New Words function is throwing an exception "A generic error occurred in GDI+" while processing the input file sent on Microsoft Teams</a:t>
                      </a:r>
                    </a:p>
                  </a:txBody>
                  <a:tcPr marL="7084" marR="7084" marT="70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26-Aug-25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01-Sep-25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GOP - GAT</a:t>
                      </a:r>
                    </a:p>
                  </a:txBody>
                  <a:tcPr marL="7084" marR="7084" marT="70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260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7757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Straight Connector 112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/>
          <p:cNvSpPr txBox="1">
            <a:spLocks noGrp="1"/>
          </p:cNvSpPr>
          <p:nvPr>
            <p:ph type="title"/>
          </p:nvPr>
        </p:nvSpPr>
        <p:spPr>
          <a:xfrm>
            <a:off x="3016255" y="401007"/>
            <a:ext cx="5166527" cy="6223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2400" b="1" dirty="0"/>
              <a:t>Software Requirements Summary</a:t>
            </a:r>
            <a:br>
              <a:rPr lang="en-US" sz="2400" b="1" dirty="0"/>
            </a:br>
            <a:r>
              <a:rPr lang="en-US" sz="2400" b="1" dirty="0"/>
              <a:t>From Apr-2025 to Sep-2025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47" y="153596"/>
            <a:ext cx="3271880" cy="99230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909" y="67978"/>
            <a:ext cx="1163542" cy="116354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22568" y="6575076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@</a:t>
            </a:r>
            <a:r>
              <a:rPr lang="en-US" sz="1200" dirty="0">
                <a:solidFill>
                  <a:schemeClr val="bg1"/>
                </a:solidFill>
              </a:rPr>
              <a:t>2003-2021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175376"/>
            <a:ext cx="9146088" cy="668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/>
              <a:t>ISO  9001 : 2015 And</a:t>
            </a:r>
          </a:p>
          <a:p>
            <a:pPr algn="ctr"/>
            <a:r>
              <a:rPr lang="en-US" sz="2800" dirty="0"/>
              <a:t> ISO  27001 : 2013 Certified  Company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79BEF9A-FD09-F9AF-A160-D1CF7EDE1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573893"/>
              </p:ext>
            </p:extLst>
          </p:nvPr>
        </p:nvGraphicFramePr>
        <p:xfrm>
          <a:off x="221223" y="1334912"/>
          <a:ext cx="8738226" cy="2398884"/>
        </p:xfrm>
        <a:graphic>
          <a:graphicData uri="http://schemas.openxmlformats.org/drawingml/2006/table">
            <a:tbl>
              <a:tblPr/>
              <a:tblGrid>
                <a:gridCol w="515076">
                  <a:extLst>
                    <a:ext uri="{9D8B030D-6E8A-4147-A177-3AD203B41FA5}">
                      <a16:colId xmlns:a16="http://schemas.microsoft.com/office/drawing/2014/main" val="2479881759"/>
                    </a:ext>
                  </a:extLst>
                </a:gridCol>
                <a:gridCol w="2119353">
                  <a:extLst>
                    <a:ext uri="{9D8B030D-6E8A-4147-A177-3AD203B41FA5}">
                      <a16:colId xmlns:a16="http://schemas.microsoft.com/office/drawing/2014/main" val="3869391503"/>
                    </a:ext>
                  </a:extLst>
                </a:gridCol>
                <a:gridCol w="2317898">
                  <a:extLst>
                    <a:ext uri="{9D8B030D-6E8A-4147-A177-3AD203B41FA5}">
                      <a16:colId xmlns:a16="http://schemas.microsoft.com/office/drawing/2014/main" val="1490750318"/>
                    </a:ext>
                  </a:extLst>
                </a:gridCol>
                <a:gridCol w="1535829">
                  <a:extLst>
                    <a:ext uri="{9D8B030D-6E8A-4147-A177-3AD203B41FA5}">
                      <a16:colId xmlns:a16="http://schemas.microsoft.com/office/drawing/2014/main" val="2092287424"/>
                    </a:ext>
                  </a:extLst>
                </a:gridCol>
                <a:gridCol w="1382574">
                  <a:extLst>
                    <a:ext uri="{9D8B030D-6E8A-4147-A177-3AD203B41FA5}">
                      <a16:colId xmlns:a16="http://schemas.microsoft.com/office/drawing/2014/main" val="2960097514"/>
                    </a:ext>
                  </a:extLst>
                </a:gridCol>
                <a:gridCol w="433748">
                  <a:extLst>
                    <a:ext uri="{9D8B030D-6E8A-4147-A177-3AD203B41FA5}">
                      <a16:colId xmlns:a16="http://schemas.microsoft.com/office/drawing/2014/main" val="2406092294"/>
                    </a:ext>
                  </a:extLst>
                </a:gridCol>
                <a:gridCol w="433748">
                  <a:extLst>
                    <a:ext uri="{9D8B030D-6E8A-4147-A177-3AD203B41FA5}">
                      <a16:colId xmlns:a16="http://schemas.microsoft.com/office/drawing/2014/main" val="947167100"/>
                    </a:ext>
                  </a:extLst>
                </a:gridCol>
              </a:tblGrid>
              <a:tr h="1993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Sl. No.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</a:t>
                      </a:r>
                    </a:p>
                  </a:txBody>
                  <a:tcPr marL="6117" marR="6117" marT="61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6117" marR="6117" marT="61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Enhancements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Bugs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Other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735033"/>
                  </a:ext>
                </a:extLst>
              </a:tr>
              <a:tr h="1993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GRIDS</a:t>
                      </a:r>
                    </a:p>
                  </a:txBody>
                  <a:tcPr marL="6117" marR="6117" marT="61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Access Control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605653"/>
                  </a:ext>
                </a:extLst>
              </a:tr>
              <a:tr h="1993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GRIDS</a:t>
                      </a:r>
                    </a:p>
                  </a:txBody>
                  <a:tcPr marL="6117" marR="6117" marT="61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CRM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938774"/>
                  </a:ext>
                </a:extLst>
              </a:tr>
              <a:tr h="1993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GRIDS</a:t>
                      </a:r>
                    </a:p>
                  </a:txBody>
                  <a:tcPr marL="6117" marR="6117" marT="61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GHRD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214461"/>
                  </a:ext>
                </a:extLst>
              </a:tr>
              <a:tr h="1993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GRIDS</a:t>
                      </a:r>
                    </a:p>
                  </a:txBody>
                  <a:tcPr marL="6117" marR="6117" marT="61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GPMT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9794893"/>
                  </a:ext>
                </a:extLst>
              </a:tr>
              <a:tr h="1993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GRIDS</a:t>
                      </a:r>
                    </a:p>
                  </a:txBody>
                  <a:tcPr marL="6117" marR="6117" marT="61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LMS</a:t>
                      </a:r>
                    </a:p>
                  </a:txBody>
                  <a:tcPr marL="6117" marR="6117" marT="61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428899"/>
                  </a:ext>
                </a:extLst>
              </a:tr>
              <a:tr h="1993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GRIDS</a:t>
                      </a:r>
                    </a:p>
                  </a:txBody>
                  <a:tcPr marL="6117" marR="6117" marT="61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Preventive Maintenance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669579"/>
                  </a:ext>
                </a:extLst>
              </a:tr>
              <a:tr h="1993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GRIDS</a:t>
                      </a:r>
                    </a:p>
                  </a:txBody>
                  <a:tcPr marL="6117" marR="6117" marT="61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GAT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384003"/>
                  </a:ext>
                </a:extLst>
              </a:tr>
              <a:tr h="1993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GRIDS</a:t>
                      </a:r>
                    </a:p>
                  </a:txBody>
                  <a:tcPr marL="6117" marR="6117" marT="61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HRM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160645"/>
                  </a:ext>
                </a:extLst>
              </a:tr>
              <a:tr h="1993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GRIDS</a:t>
                      </a:r>
                    </a:p>
                  </a:txBody>
                  <a:tcPr marL="6117" marR="6117" marT="61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 Assets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38195"/>
                  </a:ext>
                </a:extLst>
              </a:tr>
              <a:tr h="1993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GRIDS</a:t>
                      </a:r>
                    </a:p>
                  </a:txBody>
                  <a:tcPr marL="6117" marR="6117" marT="611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Training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839040"/>
                  </a:ext>
                </a:extLst>
              </a:tr>
              <a:tr h="20614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117" marR="6117" marT="611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117" marR="6117" marT="611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</a:t>
                      </a:r>
                    </a:p>
                  </a:txBody>
                  <a:tcPr marL="6117" marR="6117" marT="61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11321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469282-3979-6D73-4CF6-38D4FFB17E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0040290"/>
              </p:ext>
            </p:extLst>
          </p:nvPr>
        </p:nvGraphicFramePr>
        <p:xfrm>
          <a:off x="221222" y="3771720"/>
          <a:ext cx="8738225" cy="2338186"/>
        </p:xfrm>
        <a:graphic>
          <a:graphicData uri="http://schemas.openxmlformats.org/drawingml/2006/table">
            <a:tbl>
              <a:tblPr/>
              <a:tblGrid>
                <a:gridCol w="540777">
                  <a:extLst>
                    <a:ext uri="{9D8B030D-6E8A-4147-A177-3AD203B41FA5}">
                      <a16:colId xmlns:a16="http://schemas.microsoft.com/office/drawing/2014/main" val="270364681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922660999"/>
                    </a:ext>
                  </a:extLst>
                </a:gridCol>
                <a:gridCol w="2286001">
                  <a:extLst>
                    <a:ext uri="{9D8B030D-6E8A-4147-A177-3AD203B41FA5}">
                      <a16:colId xmlns:a16="http://schemas.microsoft.com/office/drawing/2014/main" val="2767789040"/>
                    </a:ext>
                  </a:extLst>
                </a:gridCol>
                <a:gridCol w="1523999">
                  <a:extLst>
                    <a:ext uri="{9D8B030D-6E8A-4147-A177-3AD203B41FA5}">
                      <a16:colId xmlns:a16="http://schemas.microsoft.com/office/drawing/2014/main" val="224222731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439673495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3922415876"/>
                    </a:ext>
                  </a:extLst>
                </a:gridCol>
                <a:gridCol w="425049">
                  <a:extLst>
                    <a:ext uri="{9D8B030D-6E8A-4147-A177-3AD203B41FA5}">
                      <a16:colId xmlns:a16="http://schemas.microsoft.com/office/drawing/2014/main" val="2388708988"/>
                    </a:ext>
                  </a:extLst>
                </a:gridCol>
              </a:tblGrid>
              <a:tr h="22846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Sl. No.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</a:t>
                      </a:r>
                    </a:p>
                  </a:txBody>
                  <a:tcPr marL="8147" marR="8147" marT="814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8147" marR="8147" marT="814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Enhancements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Bugs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Other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704890"/>
                  </a:ext>
                </a:extLst>
              </a:tr>
              <a:tr h="22846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GOP</a:t>
                      </a:r>
                    </a:p>
                  </a:txBody>
                  <a:tcPr marL="8147" marR="8147" marT="814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Access Control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390038"/>
                  </a:ext>
                </a:extLst>
              </a:tr>
              <a:tr h="22846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GOP</a:t>
                      </a:r>
                    </a:p>
                  </a:txBody>
                  <a:tcPr marL="8147" marR="8147" marT="814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Admin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03769"/>
                  </a:ext>
                </a:extLst>
              </a:tr>
              <a:tr h="22846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GOP</a:t>
                      </a:r>
                    </a:p>
                  </a:txBody>
                  <a:tcPr marL="8147" marR="8147" marT="814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GAT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627136"/>
                  </a:ext>
                </a:extLst>
              </a:tr>
              <a:tr h="22846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GOP</a:t>
                      </a:r>
                    </a:p>
                  </a:txBody>
                  <a:tcPr marL="8147" marR="8147" marT="814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Production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044866"/>
                  </a:ext>
                </a:extLst>
              </a:tr>
              <a:tr h="22846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GOP</a:t>
                      </a:r>
                    </a:p>
                  </a:txBody>
                  <a:tcPr marL="8147" marR="8147" marT="814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Production and QC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3832398"/>
                  </a:ext>
                </a:extLst>
              </a:tr>
              <a:tr h="22846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GOP</a:t>
                      </a:r>
                    </a:p>
                  </a:txBody>
                  <a:tcPr marL="8147" marR="8147" marT="814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QC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7179351"/>
                  </a:ext>
                </a:extLst>
              </a:tr>
              <a:tr h="22846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GOP</a:t>
                      </a:r>
                    </a:p>
                  </a:txBody>
                  <a:tcPr marL="8147" marR="8147" marT="814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Incident Report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395304"/>
                  </a:ext>
                </a:extLst>
              </a:tr>
              <a:tr h="22846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GOP</a:t>
                      </a:r>
                    </a:p>
                  </a:txBody>
                  <a:tcPr marL="8147" marR="8147" marT="814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SNOMED Searcher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507168"/>
                  </a:ext>
                </a:extLst>
              </a:tr>
              <a:tr h="282010"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147" marR="8147" marT="81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8147" marR="8147" marT="814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 marL="8147" marR="8147" marT="81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</a:t>
                      </a:r>
                    </a:p>
                  </a:txBody>
                  <a:tcPr marL="8147" marR="8147" marT="81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</a:t>
                      </a:r>
                    </a:p>
                  </a:txBody>
                  <a:tcPr marL="8147" marR="8147" marT="81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94075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C924893-04E9-833F-CA2C-71F5E625366F}"/>
              </a:ext>
            </a:extLst>
          </p:cNvPr>
          <p:cNvSpPr txBox="1"/>
          <p:nvPr/>
        </p:nvSpPr>
        <p:spPr>
          <a:xfrm>
            <a:off x="7807890" y="6555985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@</a:t>
            </a:r>
            <a:r>
              <a:rPr lang="en-US" sz="1200" dirty="0">
                <a:solidFill>
                  <a:schemeClr val="bg1"/>
                </a:solidFill>
              </a:rPr>
              <a:t>2003-2025</a:t>
            </a:r>
          </a:p>
        </p:txBody>
      </p:sp>
    </p:spTree>
    <p:extLst>
      <p:ext uri="{BB962C8B-B14F-4D97-AF65-F5344CB8AC3E}">
        <p14:creationId xmlns:p14="http://schemas.microsoft.com/office/powerpoint/2010/main" val="1864155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Straight Connector 112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/>
          <p:cNvSpPr txBox="1">
            <a:spLocks noGrp="1"/>
          </p:cNvSpPr>
          <p:nvPr>
            <p:ph type="title"/>
          </p:nvPr>
        </p:nvSpPr>
        <p:spPr>
          <a:xfrm>
            <a:off x="3581400" y="381000"/>
            <a:ext cx="4419601" cy="8135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2400" b="1" dirty="0"/>
              <a:t>Internal Audit Findings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30" y="142296"/>
            <a:ext cx="3271880" cy="99230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19800"/>
            <a:ext cx="9146088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/>
              <a:t>ISO  9001 : 2015 And</a:t>
            </a:r>
          </a:p>
          <a:p>
            <a:pPr algn="ctr"/>
            <a:r>
              <a:rPr lang="en-US" sz="2800" dirty="0"/>
              <a:t> ISO  27001 : 2013 Certified  Company</a:t>
            </a:r>
          </a:p>
        </p:txBody>
      </p:sp>
      <p:pic>
        <p:nvPicPr>
          <p:cNvPr id="17" name="Picture 2" descr="F:\Vinod\Data Received\Manoj DS\29-Oct-2019\Icon gallery\action-plan-list-activities-icon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8102" y="134282"/>
            <a:ext cx="10668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F8B0EE-C974-123C-8D85-36C3D75DCE91}"/>
              </a:ext>
            </a:extLst>
          </p:cNvPr>
          <p:cNvSpPr txBox="1"/>
          <p:nvPr/>
        </p:nvSpPr>
        <p:spPr>
          <a:xfrm>
            <a:off x="7807890" y="6555985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@</a:t>
            </a:r>
            <a:r>
              <a:rPr lang="en-US" sz="1200" dirty="0">
                <a:solidFill>
                  <a:schemeClr val="bg1"/>
                </a:solidFill>
              </a:rPr>
              <a:t>2003-2025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5B965DE-DAF3-BEFE-3D39-1F59034407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23905"/>
              </p:ext>
            </p:extLst>
          </p:nvPr>
        </p:nvGraphicFramePr>
        <p:xfrm>
          <a:off x="304800" y="1371600"/>
          <a:ext cx="8623046" cy="4289152"/>
        </p:xfrm>
        <a:graphic>
          <a:graphicData uri="http://schemas.openxmlformats.org/drawingml/2006/table">
            <a:tbl>
              <a:tblPr/>
              <a:tblGrid>
                <a:gridCol w="250658">
                  <a:extLst>
                    <a:ext uri="{9D8B030D-6E8A-4147-A177-3AD203B41FA5}">
                      <a16:colId xmlns:a16="http://schemas.microsoft.com/office/drawing/2014/main" val="1230353502"/>
                    </a:ext>
                  </a:extLst>
                </a:gridCol>
                <a:gridCol w="968542">
                  <a:extLst>
                    <a:ext uri="{9D8B030D-6E8A-4147-A177-3AD203B41FA5}">
                      <a16:colId xmlns:a16="http://schemas.microsoft.com/office/drawing/2014/main" val="3843304617"/>
                    </a:ext>
                  </a:extLst>
                </a:gridCol>
                <a:gridCol w="2484962">
                  <a:extLst>
                    <a:ext uri="{9D8B030D-6E8A-4147-A177-3AD203B41FA5}">
                      <a16:colId xmlns:a16="http://schemas.microsoft.com/office/drawing/2014/main" val="1491927000"/>
                    </a:ext>
                  </a:extLst>
                </a:gridCol>
                <a:gridCol w="2082385">
                  <a:extLst>
                    <a:ext uri="{9D8B030D-6E8A-4147-A177-3AD203B41FA5}">
                      <a16:colId xmlns:a16="http://schemas.microsoft.com/office/drawing/2014/main" val="1487470162"/>
                    </a:ext>
                  </a:extLst>
                </a:gridCol>
                <a:gridCol w="1936703">
                  <a:extLst>
                    <a:ext uri="{9D8B030D-6E8A-4147-A177-3AD203B41FA5}">
                      <a16:colId xmlns:a16="http://schemas.microsoft.com/office/drawing/2014/main" val="275653187"/>
                    </a:ext>
                  </a:extLst>
                </a:gridCol>
                <a:gridCol w="899796">
                  <a:extLst>
                    <a:ext uri="{9D8B030D-6E8A-4147-A177-3AD203B41FA5}">
                      <a16:colId xmlns:a16="http://schemas.microsoft.com/office/drawing/2014/main" val="2487082326"/>
                    </a:ext>
                  </a:extLst>
                </a:gridCol>
              </a:tblGrid>
              <a:tr h="2729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AC#</a:t>
                      </a:r>
                    </a:p>
                  </a:txBody>
                  <a:tcPr marL="5880" marR="5880" marT="58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Vert">
                      <a:fgClr>
                        <a:srgbClr val="00F0FF"/>
                      </a:fgClr>
                      <a:bgClr>
                        <a:srgbClr val="00F0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Auditor</a:t>
                      </a:r>
                    </a:p>
                  </a:txBody>
                  <a:tcPr marL="5880" marR="5880" marT="58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Vert">
                      <a:fgClr>
                        <a:srgbClr val="00F0FF"/>
                      </a:fgClr>
                      <a:bgClr>
                        <a:srgbClr val="00F0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Auditor Notes</a:t>
                      </a:r>
                    </a:p>
                  </a:txBody>
                  <a:tcPr marL="5880" marR="5880" marT="58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Vert">
                      <a:fgClr>
                        <a:srgbClr val="00F0FF"/>
                      </a:fgClr>
                      <a:bgClr>
                        <a:srgbClr val="00F0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MR Notes</a:t>
                      </a:r>
                    </a:p>
                  </a:txBody>
                  <a:tcPr marL="5880" marR="5880" marT="58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Vert">
                      <a:fgClr>
                        <a:srgbClr val="00F0FF"/>
                      </a:fgClr>
                      <a:bgClr>
                        <a:srgbClr val="00F0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Auditee Notes</a:t>
                      </a:r>
                    </a:p>
                  </a:txBody>
                  <a:tcPr marL="5880" marR="5880" marT="58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Vert">
                      <a:fgClr>
                        <a:srgbClr val="00F0FF"/>
                      </a:fgClr>
                      <a:bgClr>
                        <a:srgbClr val="00F0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Category</a:t>
                      </a:r>
                    </a:p>
                  </a:txBody>
                  <a:tcPr marL="5880" marR="5880" marT="58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Vert">
                      <a:fgClr>
                        <a:srgbClr val="00F0FF"/>
                      </a:fgClr>
                      <a:bgClr>
                        <a:srgbClr val="00F0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279606036"/>
                  </a:ext>
                </a:extLst>
              </a:tr>
              <a:tr h="7564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5880" marR="5880" marT="58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Praveen Bheemaiah CA</a:t>
                      </a:r>
                    </a:p>
                  </a:txBody>
                  <a:tcPr marL="5880" marR="5880" marT="58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"Mantis - Bug Tracker" is still part of the document, even after discontinuation.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 be updated with appropriate.</a:t>
                      </a:r>
                    </a:p>
                  </a:txBody>
                  <a:tcPr marL="5880" marR="5880" marT="58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"Mantis - Bug Tracker" is still part of the document, even after discontinuation.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 be updated with appropriate.</a:t>
                      </a:r>
                    </a:p>
                  </a:txBody>
                  <a:tcPr marL="5880" marR="5880" marT="58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Removed hard coded software application name (MANTIS) from both process documents. QRR has been raised for the same.</a:t>
                      </a:r>
                    </a:p>
                  </a:txBody>
                  <a:tcPr marL="5880" marR="5880" marT="58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Observation</a:t>
                      </a:r>
                    </a:p>
                  </a:txBody>
                  <a:tcPr marL="5880" marR="5880" marT="58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079753"/>
                  </a:ext>
                </a:extLst>
              </a:tr>
              <a:tr h="12516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5880" marR="5880" marT="58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Praveen Bheemaiah CA</a:t>
                      </a:r>
                    </a:p>
                  </a:txBody>
                  <a:tcPr marL="5880" marR="5880" marT="58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"actiTime" work tracker is still part of  the process document, even after disconitinuation.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Appropriate tracker has to be updated.</a:t>
                      </a:r>
                    </a:p>
                  </a:txBody>
                  <a:tcPr marL="5880" marR="5880" marT="58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"actiTime" work tracker is still part of  the process document, even after disconitinuation.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Appropriate tracker has to be updated.</a:t>
                      </a:r>
                    </a:p>
                  </a:txBody>
                  <a:tcPr marL="5880" marR="5880" marT="58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"actiTime" is no longer in use and it is discontinued. The reference of the same has been marked (with strike-through font style) to show it is discontinued. QRR has been raised for the same.</a:t>
                      </a:r>
                    </a:p>
                  </a:txBody>
                  <a:tcPr marL="5880" marR="5880" marT="58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Observation</a:t>
                      </a:r>
                    </a:p>
                  </a:txBody>
                  <a:tcPr marL="5880" marR="5880" marT="58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4988588"/>
                  </a:ext>
                </a:extLst>
              </a:tr>
              <a:tr h="10040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5880" marR="5880" marT="58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Praveen Bheemaiah CA</a:t>
                      </a:r>
                    </a:p>
                  </a:txBody>
                  <a:tcPr marL="5880" marR="5880" marT="58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Multiple format changes </a:t>
                      </a:r>
                      <a:b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Names</a:t>
                      </a:r>
                      <a:b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Column headers</a:t>
                      </a:r>
                    </a:p>
                  </a:txBody>
                  <a:tcPr marL="5880" marR="5880" marT="58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Multiple format changes </a:t>
                      </a:r>
                      <a:b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Names</a:t>
                      </a:r>
                      <a:b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Column headers</a:t>
                      </a:r>
                    </a:p>
                  </a:txBody>
                  <a:tcPr marL="5880" marR="5880" marT="58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Corrected the text format of all text from amendment record sheet and corrected the column headers in process document. QRR has been raised for the same.</a:t>
                      </a:r>
                    </a:p>
                  </a:txBody>
                  <a:tcPr marL="5880" marR="5880" marT="58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Observation</a:t>
                      </a:r>
                    </a:p>
                  </a:txBody>
                  <a:tcPr marL="5880" marR="5880" marT="58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145262"/>
                  </a:ext>
                </a:extLst>
              </a:tr>
              <a:tr h="10040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5880" marR="5880" marT="58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Praveen Bheemaiah CA</a:t>
                      </a:r>
                    </a:p>
                  </a:txBody>
                  <a:tcPr marL="5880" marR="5880" marT="58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New documents needs to be updated as per current usage of the Programming Languages. 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ASP, C#, SQL Documents are there. React JS has to be documented along with any other being used.</a:t>
                      </a:r>
                    </a:p>
                  </a:txBody>
                  <a:tcPr marL="5880" marR="5880" marT="58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New documents needs to be updated as per current usage of the Programming Languages. 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ASP, C#, SQL Documents are there. React JS has to be documented along with any other being used.</a:t>
                      </a:r>
                    </a:p>
                  </a:txBody>
                  <a:tcPr marL="5880" marR="5880" marT="58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Prepared React JS programming best practises document and QRR has been raised for the same.</a:t>
                      </a:r>
                    </a:p>
                  </a:txBody>
                  <a:tcPr marL="5880" marR="5880" marT="58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Observation</a:t>
                      </a:r>
                    </a:p>
                  </a:txBody>
                  <a:tcPr marL="5880" marR="5880" marT="58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32467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AA6C716-E83B-426D-EB3B-4140DF5377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861873"/>
              </p:ext>
            </p:extLst>
          </p:nvPr>
        </p:nvGraphicFramePr>
        <p:xfrm>
          <a:off x="304800" y="5685769"/>
          <a:ext cx="8623046" cy="238125"/>
        </p:xfrm>
        <a:graphic>
          <a:graphicData uri="http://schemas.openxmlformats.org/drawingml/2006/table">
            <a:tbl>
              <a:tblPr/>
              <a:tblGrid>
                <a:gridCol w="1858646">
                  <a:extLst>
                    <a:ext uri="{9D8B030D-6E8A-4147-A177-3AD203B41FA5}">
                      <a16:colId xmlns:a16="http://schemas.microsoft.com/office/drawing/2014/main" val="1764785813"/>
                    </a:ext>
                  </a:extLst>
                </a:gridCol>
                <a:gridCol w="1702269">
                  <a:extLst>
                    <a:ext uri="{9D8B030D-6E8A-4147-A177-3AD203B41FA5}">
                      <a16:colId xmlns:a16="http://schemas.microsoft.com/office/drawing/2014/main" val="2544890008"/>
                    </a:ext>
                  </a:extLst>
                </a:gridCol>
                <a:gridCol w="2506492">
                  <a:extLst>
                    <a:ext uri="{9D8B030D-6E8A-4147-A177-3AD203B41FA5}">
                      <a16:colId xmlns:a16="http://schemas.microsoft.com/office/drawing/2014/main" val="109974787"/>
                    </a:ext>
                  </a:extLst>
                </a:gridCol>
                <a:gridCol w="2555639">
                  <a:extLst>
                    <a:ext uri="{9D8B030D-6E8A-4147-A177-3AD203B41FA5}">
                      <a16:colId xmlns:a16="http://schemas.microsoft.com/office/drawing/2014/main" val="1585140450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Observations - 4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Suggestions - 0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Non-Conformances - 0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Positive Compliance - 0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916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4900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600" y="186182"/>
            <a:ext cx="4773901" cy="962999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/>
              <a:t>On-going and Delivered work</a:t>
            </a:r>
          </a:p>
        </p:txBody>
      </p:sp>
      <p:cxnSp>
        <p:nvCxnSpPr>
          <p:cNvPr id="113" name="Straight Connector 112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7807890" y="6488668"/>
            <a:ext cx="1412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@2003-2018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04" y="171529"/>
            <a:ext cx="3271880" cy="992307"/>
          </a:xfrm>
          <a:prstGeom prst="rect">
            <a:avLst/>
          </a:prstGeom>
        </p:spPr>
      </p:pic>
      <p:pic>
        <p:nvPicPr>
          <p:cNvPr id="7170" name="Picture 2" descr="F:\Vinod\Data Received\Manoj DS\29-Oct-2019\Icon gallery\action-plan-list-activities-icon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8102" y="134282"/>
            <a:ext cx="10668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0" y="6019800"/>
            <a:ext cx="9146088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/>
              <a:t>ISO  9001 : 2015 And</a:t>
            </a:r>
          </a:p>
          <a:p>
            <a:pPr algn="ctr"/>
            <a:r>
              <a:rPr lang="en-US" sz="2800" dirty="0"/>
              <a:t> ISO  27001 : 2013 Certified 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164" y="1321229"/>
            <a:ext cx="2625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On-going Activities: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164" y="2940563"/>
            <a:ext cx="2019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Delivered work: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9361" y="5605071"/>
            <a:ext cx="80180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2060"/>
                </a:solidFill>
              </a:rPr>
              <a:t>Resource work activities are tracked in SalesBee Task Management – online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55732" y="3447911"/>
            <a:ext cx="84037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Delivered “QC Item Edit – On Screen” module in GOP application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Delivered 44 enhancements in GOP and 19 enhancements in GRIDS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Resolved 2 bugs from GRIDS and 5 bugs from GOP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Served 26 data manipulation requirements from GRIDS and 19 from GOP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066" y="1674674"/>
            <a:ext cx="840374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Development of GAT module in GOP application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Development of “Marketing” module in GOP application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Importing SNOMED data to GOP and Health Coder applications on monthly basis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B914F64-AA29-B25A-2AE1-BA9B38A0B7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043733"/>
              </p:ext>
            </p:extLst>
          </p:nvPr>
        </p:nvGraphicFramePr>
        <p:xfrm>
          <a:off x="555732" y="4882079"/>
          <a:ext cx="8018018" cy="628650"/>
        </p:xfrm>
        <a:graphic>
          <a:graphicData uri="http://schemas.openxmlformats.org/drawingml/2006/table">
            <a:tbl>
              <a:tblPr/>
              <a:tblGrid>
                <a:gridCol w="826777">
                  <a:extLst>
                    <a:ext uri="{9D8B030D-6E8A-4147-A177-3AD203B41FA5}">
                      <a16:colId xmlns:a16="http://schemas.microsoft.com/office/drawing/2014/main" val="970485643"/>
                    </a:ext>
                  </a:extLst>
                </a:gridCol>
                <a:gridCol w="3087496">
                  <a:extLst>
                    <a:ext uri="{9D8B030D-6E8A-4147-A177-3AD203B41FA5}">
                      <a16:colId xmlns:a16="http://schemas.microsoft.com/office/drawing/2014/main" val="3452656657"/>
                    </a:ext>
                  </a:extLst>
                </a:gridCol>
                <a:gridCol w="1123901">
                  <a:extLst>
                    <a:ext uri="{9D8B030D-6E8A-4147-A177-3AD203B41FA5}">
                      <a16:colId xmlns:a16="http://schemas.microsoft.com/office/drawing/2014/main" val="2047293448"/>
                    </a:ext>
                  </a:extLst>
                </a:gridCol>
                <a:gridCol w="1498534">
                  <a:extLst>
                    <a:ext uri="{9D8B030D-6E8A-4147-A177-3AD203B41FA5}">
                      <a16:colId xmlns:a16="http://schemas.microsoft.com/office/drawing/2014/main" val="412042416"/>
                    </a:ext>
                  </a:extLst>
                </a:gridCol>
                <a:gridCol w="1481310">
                  <a:extLst>
                    <a:ext uri="{9D8B030D-6E8A-4147-A177-3AD203B41FA5}">
                      <a16:colId xmlns:a16="http://schemas.microsoft.com/office/drawing/2014/main" val="283265455"/>
                    </a:ext>
                  </a:extLst>
                </a:gridCol>
              </a:tblGrid>
              <a:tr h="25530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Sl. No.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Application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Front End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Back End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730888"/>
                  </a:ext>
                </a:extLst>
              </a:tr>
              <a:tr h="25530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QC Item Edit – on screen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14106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985721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09BE97C-61F9-8C2B-D367-A970CEF74A50}"/>
              </a:ext>
            </a:extLst>
          </p:cNvPr>
          <p:cNvSpPr txBox="1"/>
          <p:nvPr/>
        </p:nvSpPr>
        <p:spPr>
          <a:xfrm>
            <a:off x="7807890" y="6555985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@</a:t>
            </a:r>
            <a:r>
              <a:rPr lang="en-US" sz="1200" dirty="0">
                <a:solidFill>
                  <a:schemeClr val="bg1"/>
                </a:solidFill>
              </a:rPr>
              <a:t>2003-2025</a:t>
            </a:r>
          </a:p>
        </p:txBody>
      </p:sp>
    </p:spTree>
    <p:extLst>
      <p:ext uri="{BB962C8B-B14F-4D97-AF65-F5344CB8AC3E}">
        <p14:creationId xmlns:p14="http://schemas.microsoft.com/office/powerpoint/2010/main" val="2114705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B608D-F744-AE19-E48F-A3864A94F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0CE4D87-0BF1-223C-D2EF-C2D2BEDCAD42}"/>
              </a:ext>
            </a:extLst>
          </p:cNvPr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F85C737A-FE56-93A3-719E-C48C055A3789}"/>
              </a:ext>
            </a:extLst>
          </p:cNvPr>
          <p:cNvSpPr txBox="1"/>
          <p:nvPr/>
        </p:nvSpPr>
        <p:spPr>
          <a:xfrm>
            <a:off x="7807890" y="6488668"/>
            <a:ext cx="1412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@2003-2017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876C46C-A339-CA0F-AAA0-99DB880FD6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30" y="142296"/>
            <a:ext cx="3271880" cy="9923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816EAB6-7818-B9E1-E016-76BE420549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33476" y="366286"/>
            <a:ext cx="4689092" cy="8073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2800" b="1" dirty="0"/>
              <a:t>Customer Feedback</a:t>
            </a:r>
          </a:p>
        </p:txBody>
      </p:sp>
      <p:sp>
        <p:nvSpPr>
          <p:cNvPr id="3" name="AutoShape 2" descr="Image result for suggestions icon">
            <a:extLst>
              <a:ext uri="{FF2B5EF4-FFF2-40B4-BE49-F238E27FC236}">
                <a16:creationId xmlns:a16="http://schemas.microsoft.com/office/drawing/2014/main" id="{3CFCC663-5FA4-FBB3-5888-F3B3C05578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AutoShape 4" descr="Image result for suggestions icon">
            <a:extLst>
              <a:ext uri="{FF2B5EF4-FFF2-40B4-BE49-F238E27FC236}">
                <a16:creationId xmlns:a16="http://schemas.microsoft.com/office/drawing/2014/main" id="{22B68A59-E89D-A285-4491-347F70FBBA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AutoShape 6" descr="Image result for suggestions icon">
            <a:extLst>
              <a:ext uri="{FF2B5EF4-FFF2-40B4-BE49-F238E27FC236}">
                <a16:creationId xmlns:a16="http://schemas.microsoft.com/office/drawing/2014/main" id="{AC18BB6A-1C57-26AF-8A46-0C56CDD2BA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AutoShape 8" descr="Image result for suggestions icon">
            <a:extLst>
              <a:ext uri="{FF2B5EF4-FFF2-40B4-BE49-F238E27FC236}">
                <a16:creationId xmlns:a16="http://schemas.microsoft.com/office/drawing/2014/main" id="{A9A7880C-A2D3-66E9-DE4A-81F6636B63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AutoShape 10" descr="Image result for suggestions icon">
            <a:extLst>
              <a:ext uri="{FF2B5EF4-FFF2-40B4-BE49-F238E27FC236}">
                <a16:creationId xmlns:a16="http://schemas.microsoft.com/office/drawing/2014/main" id="{6C27CD3F-62E5-1B3F-C833-A6A6CFCA01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204" name="Picture 12">
            <a:extLst>
              <a:ext uri="{FF2B5EF4-FFF2-40B4-BE49-F238E27FC236}">
                <a16:creationId xmlns:a16="http://schemas.microsoft.com/office/drawing/2014/main" id="{A7A4127B-ADC0-F6BE-A55A-81DF8036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9695" y="298450"/>
            <a:ext cx="102870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AC3645E-7095-3F2F-3C4C-37541E117081}"/>
              </a:ext>
            </a:extLst>
          </p:cNvPr>
          <p:cNvSpPr/>
          <p:nvPr/>
        </p:nvSpPr>
        <p:spPr>
          <a:xfrm>
            <a:off x="0" y="6019800"/>
            <a:ext cx="9146088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ISO  9001 : 2015 And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ISO  27001 : 2013 Certified  Company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E401D7-896B-79C7-A1E2-5CF20E5A2E3C}"/>
              </a:ext>
            </a:extLst>
          </p:cNvPr>
          <p:cNvSpPr txBox="1"/>
          <p:nvPr/>
        </p:nvSpPr>
        <p:spPr>
          <a:xfrm>
            <a:off x="460375" y="3059668"/>
            <a:ext cx="6146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feedback received from the Customer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C98D76-7172-7A2C-7ABF-AF4B01FAE7E0}"/>
              </a:ext>
            </a:extLst>
          </p:cNvPr>
          <p:cNvSpPr txBox="1"/>
          <p:nvPr/>
        </p:nvSpPr>
        <p:spPr>
          <a:xfrm>
            <a:off x="7807890" y="6555985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@</a:t>
            </a:r>
            <a:r>
              <a:rPr lang="en-US" sz="1200" dirty="0">
                <a:solidFill>
                  <a:schemeClr val="bg1"/>
                </a:solidFill>
              </a:rPr>
              <a:t>2003-2025</a:t>
            </a:r>
          </a:p>
        </p:txBody>
      </p:sp>
    </p:spTree>
    <p:extLst>
      <p:ext uri="{BB962C8B-B14F-4D97-AF65-F5344CB8AC3E}">
        <p14:creationId xmlns:p14="http://schemas.microsoft.com/office/powerpoint/2010/main" val="2403988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Straight Connector 112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7807890" y="6488668"/>
            <a:ext cx="1412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@2003-2017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30" y="142296"/>
            <a:ext cx="3271880" cy="9923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019800"/>
            <a:ext cx="9146088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/>
              <a:t>ISO  9001 : 2015 And</a:t>
            </a:r>
          </a:p>
          <a:p>
            <a:pPr algn="ctr"/>
            <a:r>
              <a:rPr lang="en-US" sz="2800" dirty="0"/>
              <a:t> ISO  27001 : 2013 Certified  Company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6788" y="102668"/>
            <a:ext cx="1071562" cy="107156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14A88F8-10ED-106D-0D3D-DB7A44C3CC83}"/>
              </a:ext>
            </a:extLst>
          </p:cNvPr>
          <p:cNvSpPr/>
          <p:nvPr/>
        </p:nvSpPr>
        <p:spPr>
          <a:xfrm>
            <a:off x="2620986" y="2967335"/>
            <a:ext cx="3902030" cy="92333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FCE7BA-7BE0-1E5F-8569-1683129B85A7}"/>
              </a:ext>
            </a:extLst>
          </p:cNvPr>
          <p:cNvSpPr txBox="1"/>
          <p:nvPr/>
        </p:nvSpPr>
        <p:spPr>
          <a:xfrm>
            <a:off x="7807890" y="6555985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@</a:t>
            </a:r>
            <a:r>
              <a:rPr lang="en-US" sz="1200" dirty="0">
                <a:solidFill>
                  <a:schemeClr val="bg1"/>
                </a:solidFill>
              </a:rPr>
              <a:t>2003-2025</a:t>
            </a:r>
          </a:p>
        </p:txBody>
      </p:sp>
    </p:spTree>
    <p:extLst>
      <p:ext uri="{BB962C8B-B14F-4D97-AF65-F5344CB8AC3E}">
        <p14:creationId xmlns:p14="http://schemas.microsoft.com/office/powerpoint/2010/main" val="3147763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17402</TotalTime>
  <Words>1384</Words>
  <Application>Microsoft Office PowerPoint</Application>
  <PresentationFormat>On-screen Show (4:3)</PresentationFormat>
  <Paragraphs>398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Algerian</vt:lpstr>
      <vt:lpstr>Arial</vt:lpstr>
      <vt:lpstr>Arial Black</vt:lpstr>
      <vt:lpstr>Calibri</vt:lpstr>
      <vt:lpstr>Calibri Light</vt:lpstr>
      <vt:lpstr>Office Theme</vt:lpstr>
      <vt:lpstr>Software</vt:lpstr>
      <vt:lpstr>PowerPoint Presentation</vt:lpstr>
      <vt:lpstr>QC Item Edit Screen - GOP</vt:lpstr>
      <vt:lpstr>GAT Functions - GOP</vt:lpstr>
      <vt:lpstr>Software SLA</vt:lpstr>
      <vt:lpstr>Software SLA</vt:lpstr>
      <vt:lpstr>Software Requirements Summary From Apr-2025 to Sep-2025</vt:lpstr>
      <vt:lpstr>Internal Audit Findings</vt:lpstr>
      <vt:lpstr>On-going and Delivered work</vt:lpstr>
      <vt:lpstr>Customer Feedback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DOCUMENT MANAGEMENT SYSTEM</dc:title>
  <dc:creator>eqldesign</dc:creator>
  <cp:lastModifiedBy>Vinod R Chougule</cp:lastModifiedBy>
  <cp:revision>1301</cp:revision>
  <dcterms:created xsi:type="dcterms:W3CDTF">2017-05-02T07:10:40Z</dcterms:created>
  <dcterms:modified xsi:type="dcterms:W3CDTF">2025-10-17T15:28:30Z</dcterms:modified>
</cp:coreProperties>
</file>