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9" r:id="rId3"/>
    <p:sldId id="265" r:id="rId4"/>
    <p:sldId id="273" r:id="rId5"/>
    <p:sldId id="274" r:id="rId6"/>
    <p:sldId id="275" r:id="rId7"/>
    <p:sldId id="276" r:id="rId8"/>
    <p:sldId id="277" r:id="rId9"/>
    <p:sldId id="278" r:id="rId10"/>
    <p:sldId id="279" r:id="rId11"/>
    <p:sldId id="280" r:id="rId12"/>
    <p:sldId id="282" r:id="rId13"/>
    <p:sldId id="283" r:id="rId14"/>
    <p:sldId id="284" r:id="rId15"/>
    <p:sldId id="285" r:id="rId16"/>
    <p:sldId id="286" r:id="rId17"/>
    <p:sldId id="287" r:id="rId18"/>
    <p:sldId id="291" r:id="rId19"/>
    <p:sldId id="292" r:id="rId20"/>
    <p:sldId id="293" r:id="rId2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7" d="100"/>
          <a:sy n="77" d="100"/>
        </p:scale>
        <p:origin x="498" y="-13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0396D5-2E5D-4F2D-8C19-D2AE1684F36D}" type="datetimeFigureOut">
              <a:rPr lang="en-IN" smtClean="0"/>
              <a:t>22-11-2023</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4CF631-D59F-4720-8AAA-BA6734259F15}" type="slidenum">
              <a:rPr lang="en-IN" smtClean="0"/>
              <a:t>‹#›</a:t>
            </a:fld>
            <a:endParaRPr lang="en-IN"/>
          </a:p>
        </p:txBody>
      </p:sp>
    </p:spTree>
    <p:extLst>
      <p:ext uri="{BB962C8B-B14F-4D97-AF65-F5344CB8AC3E}">
        <p14:creationId xmlns:p14="http://schemas.microsoft.com/office/powerpoint/2010/main" val="1743314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a:defRPr/>
            </a:pPr>
            <a:fld id="{5E1DE28A-DEAD-4D3D-9F2A-A8B9C5562D13}" type="datetime1">
              <a:rPr lang="en-IN" smtClean="0"/>
              <a:t>22-11-2023</a:t>
            </a:fld>
            <a:endParaRPr lang="en-IN" dirty="0"/>
          </a:p>
        </p:txBody>
      </p:sp>
      <p:sp>
        <p:nvSpPr>
          <p:cNvPr id="5"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6" name="Slide Number Placeholder 5"/>
          <p:cNvSpPr>
            <a:spLocks noGrp="1"/>
          </p:cNvSpPr>
          <p:nvPr>
            <p:ph type="sldNum" sz="quarter" idx="12"/>
          </p:nvPr>
        </p:nvSpPr>
        <p:spPr/>
        <p:txBody>
          <a:bodyPr/>
          <a:lstStyle>
            <a:lvl1pPr>
              <a:defRPr/>
            </a:lvl1pPr>
          </a:lstStyle>
          <a:p>
            <a:fld id="{472EC9C8-89D8-4861-810C-5B04966122EF}" type="slidenum">
              <a:rPr lang="en-IN"/>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CF7ACD04-1DEC-4667-B738-67C8DAC82B70}" type="datetime1">
              <a:rPr lang="en-IN" smtClean="0"/>
              <a:t>22-11-2023</a:t>
            </a:fld>
            <a:endParaRPr lang="en-IN" dirty="0"/>
          </a:p>
        </p:txBody>
      </p:sp>
      <p:sp>
        <p:nvSpPr>
          <p:cNvPr id="5"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6" name="Slide Number Placeholder 5"/>
          <p:cNvSpPr>
            <a:spLocks noGrp="1"/>
          </p:cNvSpPr>
          <p:nvPr>
            <p:ph type="sldNum" sz="quarter" idx="12"/>
          </p:nvPr>
        </p:nvSpPr>
        <p:spPr/>
        <p:txBody>
          <a:bodyPr/>
          <a:lstStyle>
            <a:lvl1pPr>
              <a:defRPr/>
            </a:lvl1pPr>
          </a:lstStyle>
          <a:p>
            <a:fld id="{F58C37F9-B7F0-43C8-8C5E-49BB0F860D62}" type="slidenum">
              <a:rPr lang="en-IN"/>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FCF527F-E864-4951-A238-D11D190EA344}" type="datetime1">
              <a:rPr lang="en-IN" smtClean="0"/>
              <a:t>22-11-2023</a:t>
            </a:fld>
            <a:endParaRPr lang="en-IN" dirty="0"/>
          </a:p>
        </p:txBody>
      </p:sp>
      <p:sp>
        <p:nvSpPr>
          <p:cNvPr id="5"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6" name="Slide Number Placeholder 5"/>
          <p:cNvSpPr>
            <a:spLocks noGrp="1"/>
          </p:cNvSpPr>
          <p:nvPr>
            <p:ph type="sldNum" sz="quarter" idx="12"/>
          </p:nvPr>
        </p:nvSpPr>
        <p:spPr/>
        <p:txBody>
          <a:bodyPr/>
          <a:lstStyle>
            <a:lvl1pPr>
              <a:defRPr/>
            </a:lvl1pPr>
          </a:lstStyle>
          <a:p>
            <a:fld id="{4728C7B7-1056-425B-ADFF-D776953A4164}" type="slidenum">
              <a:rPr lang="en-IN"/>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539EF562-AEDE-45F9-8615-4DA826A861B5}" type="datetime1">
              <a:rPr lang="en-IN" smtClean="0"/>
              <a:t>22-11-2023</a:t>
            </a:fld>
            <a:endParaRPr lang="en-IN" dirty="0"/>
          </a:p>
        </p:txBody>
      </p:sp>
      <p:sp>
        <p:nvSpPr>
          <p:cNvPr id="6"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7" name="Slide Number Placeholder 5"/>
          <p:cNvSpPr>
            <a:spLocks noGrp="1"/>
          </p:cNvSpPr>
          <p:nvPr>
            <p:ph type="sldNum" sz="quarter" idx="12"/>
          </p:nvPr>
        </p:nvSpPr>
        <p:spPr/>
        <p:txBody>
          <a:bodyPr/>
          <a:lstStyle>
            <a:lvl1pPr>
              <a:defRPr/>
            </a:lvl1pPr>
          </a:lstStyle>
          <a:p>
            <a:fld id="{6F8AD595-F121-42D4-AC66-477E0EBAE420}" type="slidenum">
              <a:rPr lang="en-IN"/>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17A2AA39-1D4B-44AF-A424-8245ACEC9664}" type="datetime1">
              <a:rPr lang="en-IN" smtClean="0"/>
              <a:t>22-11-2023</a:t>
            </a:fld>
            <a:endParaRPr lang="en-IN" dirty="0"/>
          </a:p>
        </p:txBody>
      </p:sp>
      <p:sp>
        <p:nvSpPr>
          <p:cNvPr id="8"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9" name="Slide Number Placeholder 5"/>
          <p:cNvSpPr>
            <a:spLocks noGrp="1"/>
          </p:cNvSpPr>
          <p:nvPr>
            <p:ph type="sldNum" sz="quarter" idx="12"/>
          </p:nvPr>
        </p:nvSpPr>
        <p:spPr/>
        <p:txBody>
          <a:bodyPr/>
          <a:lstStyle>
            <a:lvl1pPr>
              <a:defRPr/>
            </a:lvl1pPr>
          </a:lstStyle>
          <a:p>
            <a:fld id="{17904BF4-A4F8-4059-9A83-C1D5EAAC1040}" type="slidenum">
              <a:rPr lang="en-IN"/>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74B83F74-5E08-4F8C-A89C-AAE1649649C5}" type="datetime1">
              <a:rPr lang="en-IN" smtClean="0"/>
              <a:t>22-11-2023</a:t>
            </a:fld>
            <a:endParaRPr lang="en-IN" dirty="0"/>
          </a:p>
        </p:txBody>
      </p:sp>
      <p:sp>
        <p:nvSpPr>
          <p:cNvPr id="4"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5" name="Slide Number Placeholder 5"/>
          <p:cNvSpPr>
            <a:spLocks noGrp="1"/>
          </p:cNvSpPr>
          <p:nvPr>
            <p:ph type="sldNum" sz="quarter" idx="12"/>
          </p:nvPr>
        </p:nvSpPr>
        <p:spPr/>
        <p:txBody>
          <a:bodyPr/>
          <a:lstStyle>
            <a:lvl1pPr>
              <a:defRPr/>
            </a:lvl1pPr>
          </a:lstStyle>
          <a:p>
            <a:fld id="{C7BCB979-E05B-42A5-BA39-E536DCC1D028}" type="slidenum">
              <a:rPr lang="en-IN"/>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AAC4340-3088-4106-ABD1-2BCD871BB0B1}" type="datetime1">
              <a:rPr lang="en-IN" smtClean="0"/>
              <a:t>22-11-2023</a:t>
            </a:fld>
            <a:endParaRPr lang="en-IN" dirty="0"/>
          </a:p>
        </p:txBody>
      </p:sp>
      <p:sp>
        <p:nvSpPr>
          <p:cNvPr id="3"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4" name="Slide Number Placeholder 5"/>
          <p:cNvSpPr>
            <a:spLocks noGrp="1"/>
          </p:cNvSpPr>
          <p:nvPr>
            <p:ph type="sldNum" sz="quarter" idx="12"/>
          </p:nvPr>
        </p:nvSpPr>
        <p:spPr/>
        <p:txBody>
          <a:bodyPr/>
          <a:lstStyle>
            <a:lvl1pPr>
              <a:defRPr/>
            </a:lvl1pPr>
          </a:lstStyle>
          <a:p>
            <a:fld id="{4CB26868-D98B-495B-9716-2850EE113E99}" type="slidenum">
              <a:rPr lang="en-IN"/>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2896A96-3359-411F-999E-09EDE6791602}" type="datetime1">
              <a:rPr lang="en-IN" smtClean="0"/>
              <a:t>22-11-2023</a:t>
            </a:fld>
            <a:endParaRPr lang="en-IN" dirty="0"/>
          </a:p>
        </p:txBody>
      </p:sp>
      <p:sp>
        <p:nvSpPr>
          <p:cNvPr id="6"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7" name="Slide Number Placeholder 5"/>
          <p:cNvSpPr>
            <a:spLocks noGrp="1"/>
          </p:cNvSpPr>
          <p:nvPr>
            <p:ph type="sldNum" sz="quarter" idx="12"/>
          </p:nvPr>
        </p:nvSpPr>
        <p:spPr/>
        <p:txBody>
          <a:bodyPr/>
          <a:lstStyle>
            <a:lvl1pPr>
              <a:defRPr/>
            </a:lvl1pPr>
          </a:lstStyle>
          <a:p>
            <a:fld id="{C6A89833-E92D-41FE-AF4A-EF76727E68E2}" type="slidenum">
              <a:rPr lang="en-IN"/>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40827EC-9576-468A-A522-FE3BEBDC6E13}" type="datetime1">
              <a:rPr lang="en-IN" smtClean="0"/>
              <a:t>22-11-2023</a:t>
            </a:fld>
            <a:endParaRPr lang="en-IN" dirty="0"/>
          </a:p>
        </p:txBody>
      </p:sp>
      <p:sp>
        <p:nvSpPr>
          <p:cNvPr id="6"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7" name="Slide Number Placeholder 5"/>
          <p:cNvSpPr>
            <a:spLocks noGrp="1"/>
          </p:cNvSpPr>
          <p:nvPr>
            <p:ph type="sldNum" sz="quarter" idx="12"/>
          </p:nvPr>
        </p:nvSpPr>
        <p:spPr/>
        <p:txBody>
          <a:bodyPr/>
          <a:lstStyle>
            <a:lvl1pPr>
              <a:defRPr/>
            </a:lvl1pPr>
          </a:lstStyle>
          <a:p>
            <a:fld id="{2658735E-EAFB-4F10-AC3A-EE8BA6F8FA9B}" type="slidenum">
              <a:rPr lang="en-IN"/>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E247396E-2A20-4F02-B93E-ED8A9FF18D3D}" type="datetime1">
              <a:rPr lang="en-IN" smtClean="0"/>
              <a:t>22-11-2023</a:t>
            </a:fld>
            <a:endParaRPr lang="en-IN" dirty="0"/>
          </a:p>
        </p:txBody>
      </p:sp>
      <p:sp>
        <p:nvSpPr>
          <p:cNvPr id="5"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6" name="Slide Number Placeholder 5"/>
          <p:cNvSpPr>
            <a:spLocks noGrp="1"/>
          </p:cNvSpPr>
          <p:nvPr>
            <p:ph type="sldNum" sz="quarter" idx="12"/>
          </p:nvPr>
        </p:nvSpPr>
        <p:spPr/>
        <p:txBody>
          <a:bodyPr/>
          <a:lstStyle>
            <a:lvl1pPr>
              <a:defRPr/>
            </a:lvl1pPr>
          </a:lstStyle>
          <a:p>
            <a:fld id="{F008D67F-1FAA-4426-AA7B-86B39A22FF1D}" type="slidenum">
              <a:rPr lang="en-IN"/>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16F4B5C8-2662-425C-B09A-E48E856ED11A}" type="datetime1">
              <a:rPr lang="en-IN" smtClean="0"/>
              <a:t>22-11-2023</a:t>
            </a:fld>
            <a:endParaRPr lang="en-IN" dirty="0"/>
          </a:p>
        </p:txBody>
      </p:sp>
      <p:sp>
        <p:nvSpPr>
          <p:cNvPr id="5" name="Footer Placeholder 4"/>
          <p:cNvSpPr>
            <a:spLocks noGrp="1"/>
          </p:cNvSpPr>
          <p:nvPr>
            <p:ph type="ftr" sz="quarter" idx="11"/>
          </p:nvPr>
        </p:nvSpPr>
        <p:spPr/>
        <p:txBody>
          <a:bodyPr/>
          <a:lstStyle>
            <a:lvl1pPr>
              <a:defRPr/>
            </a:lvl1pPr>
          </a:lstStyle>
          <a:p>
            <a:pPr>
              <a:defRPr/>
            </a:pPr>
            <a:r>
              <a:rPr lang="en-IN"/>
              <a:t>Griha Software Technologies Pvt. Ltd.</a:t>
            </a:r>
            <a:endParaRPr lang="en-IN" dirty="0"/>
          </a:p>
        </p:txBody>
      </p:sp>
      <p:sp>
        <p:nvSpPr>
          <p:cNvPr id="6" name="Slide Number Placeholder 5"/>
          <p:cNvSpPr>
            <a:spLocks noGrp="1"/>
          </p:cNvSpPr>
          <p:nvPr>
            <p:ph type="sldNum" sz="quarter" idx="12"/>
          </p:nvPr>
        </p:nvSpPr>
        <p:spPr/>
        <p:txBody>
          <a:bodyPr/>
          <a:lstStyle>
            <a:lvl1pPr>
              <a:defRPr/>
            </a:lvl1pPr>
          </a:lstStyle>
          <a:p>
            <a:fld id="{ACD1D8C7-1DBC-4966-BF0E-CDBECF06F926}" type="slidenum">
              <a:rPr lang="en-IN"/>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N"/>
          </a:p>
        </p:txBody>
      </p:sp>
      <p:sp>
        <p:nvSpPr>
          <p:cNvPr id="1027" name="Text Placeholder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806639F7-C2EA-427A-A3E5-30C7FF1B2D1C}" type="datetime1">
              <a:rPr lang="en-IN" smtClean="0"/>
              <a:t>22-11-2023</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smtClean="0">
                <a:solidFill>
                  <a:schemeClr val="tx1">
                    <a:tint val="75000"/>
                  </a:schemeClr>
                </a:solidFill>
                <a:latin typeface="+mn-lt"/>
              </a:defRPr>
            </a:lvl1pPr>
          </a:lstStyle>
          <a:p>
            <a:pPr>
              <a:defRPr/>
            </a:pPr>
            <a:r>
              <a:rPr lang="en-IN"/>
              <a:t>Griha Software Technologies Pvt. Ltd.</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EB0711D7-048C-4107-A28A-C2FC74E44461}" type="slidenum">
              <a:rPr lang="en-IN"/>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r>
              <a:rPr lang="en-IN" dirty="0"/>
              <a:t>User Guide</a:t>
            </a:r>
          </a:p>
        </p:txBody>
      </p:sp>
      <p:sp>
        <p:nvSpPr>
          <p:cNvPr id="2051" name="Subtitle 2"/>
          <p:cNvSpPr>
            <a:spLocks noGrp="1"/>
          </p:cNvSpPr>
          <p:nvPr>
            <p:ph type="subTitle" idx="1"/>
          </p:nvPr>
        </p:nvSpPr>
        <p:spPr/>
        <p:txBody>
          <a:bodyPr/>
          <a:lstStyle/>
          <a:p>
            <a:r>
              <a:rPr lang="en-IN" b="1" dirty="0"/>
              <a:t>UNSPSC Searcher </a:t>
            </a:r>
            <a:endParaRPr lang="en-IN" dirty="0"/>
          </a:p>
        </p:txBody>
      </p:sp>
      <p:sp>
        <p:nvSpPr>
          <p:cNvPr id="2" name="Slide Number Placeholder 1"/>
          <p:cNvSpPr>
            <a:spLocks noGrp="1"/>
          </p:cNvSpPr>
          <p:nvPr>
            <p:ph type="sldNum" sz="quarter" idx="12"/>
          </p:nvPr>
        </p:nvSpPr>
        <p:spPr>
          <a:xfrm rot="21350491">
            <a:off x="11075670" y="6356350"/>
            <a:ext cx="312420" cy="365125"/>
          </a:xfrm>
          <a:noFill/>
        </p:spPr>
        <p:txBody>
          <a:bodyPr/>
          <a:lstStyle/>
          <a:p>
            <a:fld id="{472EC9C8-89D8-4861-810C-5B04966122EF}" type="slidenum">
              <a:rPr lang="en-IN" smtClean="0"/>
              <a:pPr/>
              <a:t>1</a:t>
            </a:fld>
            <a:endParaRPr lang="en-IN" dirty="0"/>
          </a:p>
        </p:txBody>
      </p:sp>
      <p:sp>
        <p:nvSpPr>
          <p:cNvPr id="4" name="Footer Placeholder 3"/>
          <p:cNvSpPr>
            <a:spLocks noGrp="1"/>
          </p:cNvSpPr>
          <p:nvPr>
            <p:ph type="ftr" sz="quarter" idx="11"/>
          </p:nvPr>
        </p:nvSpPr>
        <p:spPr/>
        <p:txBody>
          <a:bodyPr/>
          <a:lstStyle/>
          <a:p>
            <a:pPr>
              <a:defRPr/>
            </a:pPr>
            <a:r>
              <a:rPr lang="en-IN" dirty="0"/>
              <a:t>Griha Software Technologies Pvt. Ltd.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838200" y="365125"/>
            <a:ext cx="10515600" cy="972185"/>
          </a:xfrm>
        </p:spPr>
        <p:txBody>
          <a:bodyPr/>
          <a:lstStyle/>
          <a:p>
            <a:br>
              <a:rPr lang="en-IN" b="1" dirty="0"/>
            </a:br>
            <a:r>
              <a:rPr lang="en-IN" b="1" dirty="0"/>
              <a:t>What is UNSPSC?</a:t>
            </a:r>
            <a:br>
              <a:rPr lang="en-US" dirty="0"/>
            </a:br>
            <a:endParaRPr lang="en-US" dirty="0"/>
          </a:p>
        </p:txBody>
      </p:sp>
      <p:sp>
        <p:nvSpPr>
          <p:cNvPr id="3075" name="Content Placeholder 2"/>
          <p:cNvSpPr>
            <a:spLocks noGrp="1"/>
          </p:cNvSpPr>
          <p:nvPr>
            <p:ph idx="1"/>
          </p:nvPr>
        </p:nvSpPr>
        <p:spPr/>
        <p:txBody>
          <a:bodyPr/>
          <a:lstStyle/>
          <a:p>
            <a:pPr>
              <a:buFont typeface="Wingdings" pitchFamily="2" charset="2"/>
              <a:buChar char="Ø"/>
            </a:pPr>
            <a:r>
              <a:rPr lang="en-IN" sz="3200" dirty="0"/>
              <a:t>UNSPSC refers to United Nations Standard Products and Services Code. It is an open standard and taxonomy of products and services and also a practical business tool</a:t>
            </a:r>
          </a:p>
        </p:txBody>
      </p:sp>
      <p:sp>
        <p:nvSpPr>
          <p:cNvPr id="2" name="Slide Number Placeholder 1"/>
          <p:cNvSpPr>
            <a:spLocks noGrp="1"/>
          </p:cNvSpPr>
          <p:nvPr>
            <p:ph type="sldNum" sz="quarter" idx="12"/>
          </p:nvPr>
        </p:nvSpPr>
        <p:spPr/>
        <p:txBody>
          <a:bodyPr/>
          <a:lstStyle/>
          <a:p>
            <a:fld id="{F58C37F9-B7F0-43C8-8C5E-49BB0F860D62}" type="slidenum">
              <a:rPr lang="en-IN" smtClean="0"/>
              <a:pPr/>
              <a:t>2</a:t>
            </a:fld>
            <a:endParaRPr lang="en-IN" dirty="0"/>
          </a:p>
        </p:txBody>
      </p:sp>
      <p:sp>
        <p:nvSpPr>
          <p:cNvPr id="3" name="Footer Placeholder 2"/>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1768398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t>Define: Open Standard?</a:t>
            </a:r>
            <a:endParaRPr lang="en-US" sz="3600" dirty="0"/>
          </a:p>
        </p:txBody>
      </p:sp>
      <p:sp>
        <p:nvSpPr>
          <p:cNvPr id="3" name="Content Placeholder 2"/>
          <p:cNvSpPr>
            <a:spLocks noGrp="1"/>
          </p:cNvSpPr>
          <p:nvPr>
            <p:ph idx="1"/>
          </p:nvPr>
        </p:nvSpPr>
        <p:spPr/>
        <p:txBody>
          <a:bodyPr/>
          <a:lstStyle/>
          <a:p>
            <a:pPr>
              <a:buFont typeface="Wingdings" pitchFamily="2" charset="2"/>
              <a:buChar char="Ø"/>
            </a:pPr>
            <a:r>
              <a:rPr lang="en-IN" sz="2000" dirty="0"/>
              <a:t> Publicly available specifications for solving a certain problem.</a:t>
            </a:r>
            <a:endParaRPr lang="en-US" sz="2000" dirty="0"/>
          </a:p>
          <a:p>
            <a:pPr>
              <a:buFont typeface="Wingdings" pitchFamily="2" charset="2"/>
              <a:buChar char="Ø"/>
            </a:pPr>
            <a:r>
              <a:rPr lang="en-IN" sz="2000" dirty="0"/>
              <a:t> Not proprietary</a:t>
            </a:r>
            <a:endParaRPr lang="en-US" sz="2000" dirty="0"/>
          </a:p>
          <a:p>
            <a:pPr>
              <a:buFont typeface="Wingdings" pitchFamily="2" charset="2"/>
              <a:buChar char="Ø"/>
            </a:pPr>
            <a:r>
              <a:rPr lang="en-IN" sz="2000" dirty="0"/>
              <a:t> Available to all to read and implement</a:t>
            </a:r>
            <a:endParaRPr lang="en-US" sz="2000" dirty="0"/>
          </a:p>
          <a:p>
            <a:pPr>
              <a:buFont typeface="Wingdings" pitchFamily="2" charset="2"/>
              <a:buChar char="Ø"/>
            </a:pPr>
            <a:r>
              <a:rPr lang="en-IN" sz="2000" dirty="0"/>
              <a:t> No royalty or license fees for usage</a:t>
            </a:r>
            <a:endParaRPr lang="en-US" sz="2000" dirty="0"/>
          </a:p>
          <a:p>
            <a:pPr>
              <a:buFont typeface="Wingdings" pitchFamily="2" charset="2"/>
              <a:buChar char="Ø"/>
            </a:pPr>
            <a:r>
              <a:rPr lang="en-IN" sz="2000" dirty="0"/>
              <a:t> No restrictions on sharing codes with trading partners</a:t>
            </a:r>
            <a:endParaRPr lang="en-US" sz="2000" dirty="0"/>
          </a:p>
          <a:p>
            <a:pPr>
              <a:buFont typeface="Wingdings" pitchFamily="2" charset="2"/>
              <a:buChar char="Ø"/>
            </a:pPr>
            <a:r>
              <a:rPr lang="en-IN" sz="2000" dirty="0"/>
              <a:t> No lock-in to one commercial solution</a:t>
            </a:r>
            <a:endParaRPr lang="en-US" sz="2000" dirty="0"/>
          </a:p>
          <a:p>
            <a:pPr>
              <a:buFont typeface="Wingdings" pitchFamily="2" charset="2"/>
              <a:buChar char="Ø"/>
            </a:pPr>
            <a:r>
              <a:rPr lang="en-IN" sz="2000" dirty="0"/>
              <a:t> Do not discriminate or favour; level, neutral playing field.</a:t>
            </a:r>
            <a:endParaRPr lang="en-US" sz="2000" dirty="0"/>
          </a:p>
          <a:p>
            <a:pPr>
              <a:buFont typeface="Wingdings" pitchFamily="2" charset="2"/>
              <a:buChar char="Ø"/>
            </a:pPr>
            <a:r>
              <a:rPr lang="en-IN" sz="2000" dirty="0"/>
              <a:t> Participation in development is open and transparent.</a:t>
            </a:r>
            <a:endParaRPr lang="en-US" sz="2000" dirty="0"/>
          </a:p>
          <a:p>
            <a:pPr>
              <a:buFont typeface="Wingdings" pitchFamily="2" charset="2"/>
              <a:buChar char="Ø"/>
            </a:pPr>
            <a:r>
              <a:rPr lang="en-IN" sz="2000" dirty="0"/>
              <a:t> Decisions are made on a consensus basis.</a:t>
            </a:r>
            <a:endParaRPr lang="en-US" sz="2000" dirty="0"/>
          </a:p>
          <a:p>
            <a:pPr>
              <a:buFont typeface="Wingdings" pitchFamily="2" charset="2"/>
              <a:buChar char="Ø"/>
            </a:pPr>
            <a:r>
              <a:rPr lang="en-IN" sz="2000" dirty="0"/>
              <a:t> Not to be confused with “open source” software.</a:t>
            </a:r>
            <a:endParaRPr lang="en-US" sz="2000" dirty="0"/>
          </a:p>
          <a:p>
            <a:pPr marL="0" indent="0">
              <a:buNone/>
            </a:pPr>
            <a:endParaRPr lang="en-GB" dirty="0"/>
          </a:p>
          <a:p>
            <a:endParaRPr lang="en-GB"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3</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t>Define: Taxonomy?</a:t>
            </a:r>
            <a:endParaRPr lang="en-US" sz="3600" dirty="0"/>
          </a:p>
        </p:txBody>
      </p:sp>
      <p:sp>
        <p:nvSpPr>
          <p:cNvPr id="3" name="Content Placeholder 2"/>
          <p:cNvSpPr>
            <a:spLocks noGrp="1"/>
          </p:cNvSpPr>
          <p:nvPr>
            <p:ph idx="1"/>
          </p:nvPr>
        </p:nvSpPr>
        <p:spPr/>
        <p:txBody>
          <a:bodyPr/>
          <a:lstStyle/>
          <a:p>
            <a:pPr>
              <a:buFont typeface="Wingdings" pitchFamily="2" charset="2"/>
              <a:buChar char="Ø"/>
            </a:pPr>
            <a:r>
              <a:rPr lang="en-IN" sz="2000" dirty="0"/>
              <a:t> A system of classification, in this case, of</a:t>
            </a:r>
            <a:endParaRPr lang="en-US" sz="2000" dirty="0"/>
          </a:p>
          <a:p>
            <a:pPr>
              <a:buFont typeface="Wingdings" pitchFamily="2" charset="2"/>
              <a:buChar char="Ø"/>
            </a:pPr>
            <a:r>
              <a:rPr lang="en-IN" sz="2000" dirty="0"/>
              <a:t> Products and services bought and sold.</a:t>
            </a:r>
            <a:endParaRPr lang="en-US" sz="2000" dirty="0"/>
          </a:p>
          <a:p>
            <a:pPr>
              <a:buFont typeface="Wingdings" pitchFamily="2" charset="2"/>
              <a:buChar char="Ø"/>
            </a:pPr>
            <a:r>
              <a:rPr lang="en-IN" sz="2000" dirty="0"/>
              <a:t> A hierarchical tree structure, which enables “drill down” and “roll up” analysis.</a:t>
            </a:r>
            <a:endParaRPr lang="en-US" sz="2000" dirty="0"/>
          </a:p>
          <a:p>
            <a:pPr>
              <a:buFont typeface="Wingdings" pitchFamily="2" charset="2"/>
              <a:buChar char="Ø"/>
            </a:pPr>
            <a:r>
              <a:rPr lang="en-IN" sz="2000" dirty="0"/>
              <a:t> A practical tool, responsive to user needs.</a:t>
            </a:r>
            <a:endParaRPr lang="en-US" sz="2000" dirty="0"/>
          </a:p>
          <a:p>
            <a:pPr>
              <a:buFont typeface="Wingdings" pitchFamily="2" charset="2"/>
              <a:buChar char="Ø"/>
            </a:pPr>
            <a:r>
              <a:rPr lang="en-IN" sz="2000" dirty="0"/>
              <a:t> Use in Enterprise Resource Planning, e-Commerce, Business Intelligence systems.</a:t>
            </a:r>
            <a:endParaRPr lang="en-US" sz="2000" dirty="0"/>
          </a:p>
          <a:p>
            <a:pPr marL="0" indent="0">
              <a:buNone/>
            </a:pPr>
            <a:endParaRPr lang="en-GB" dirty="0"/>
          </a:p>
          <a:p>
            <a:endParaRPr lang="en-GB"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4</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116621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t>UNSPSC Design:</a:t>
            </a:r>
            <a:endParaRPr lang="en-US" sz="3600" dirty="0"/>
          </a:p>
        </p:txBody>
      </p:sp>
      <p:sp>
        <p:nvSpPr>
          <p:cNvPr id="3" name="Content Placeholder 2"/>
          <p:cNvSpPr>
            <a:spLocks noGrp="1"/>
          </p:cNvSpPr>
          <p:nvPr>
            <p:ph idx="1"/>
          </p:nvPr>
        </p:nvSpPr>
        <p:spPr/>
        <p:txBody>
          <a:bodyPr/>
          <a:lstStyle/>
          <a:p>
            <a:pPr>
              <a:buFont typeface="Wingdings" pitchFamily="2" charset="2"/>
              <a:buChar char="Ø"/>
            </a:pPr>
            <a:r>
              <a:rPr lang="en-IN" sz="2000" dirty="0"/>
              <a:t> Hierarchical 4-level tree structure: </a:t>
            </a:r>
            <a:r>
              <a:rPr lang="en-IN" sz="2000" i="1" dirty="0"/>
              <a:t>Segment</a:t>
            </a:r>
            <a:r>
              <a:rPr lang="en-IN" sz="2000" dirty="0"/>
              <a:t>, </a:t>
            </a:r>
            <a:r>
              <a:rPr lang="en-IN" sz="2000" i="1" dirty="0"/>
              <a:t>Family</a:t>
            </a:r>
            <a:r>
              <a:rPr lang="en-IN" sz="2000" dirty="0"/>
              <a:t>,</a:t>
            </a:r>
            <a:r>
              <a:rPr lang="en-IN" sz="2000" i="1" dirty="0"/>
              <a:t> Class </a:t>
            </a:r>
            <a:r>
              <a:rPr lang="en-IN" sz="2000" dirty="0"/>
              <a:t>and </a:t>
            </a:r>
            <a:r>
              <a:rPr lang="en-IN" sz="2000" i="1" dirty="0"/>
              <a:t>Commodity</a:t>
            </a:r>
            <a:endParaRPr lang="en-US" sz="2000" dirty="0"/>
          </a:p>
          <a:p>
            <a:pPr marL="0" indent="0">
              <a:buNone/>
            </a:pPr>
            <a:r>
              <a:rPr lang="en-IN" sz="2000" dirty="0"/>
              <a:t>       </a:t>
            </a:r>
            <a:r>
              <a:rPr lang="en-IN" sz="2000" b="1" i="1" dirty="0"/>
              <a:t>Note</a:t>
            </a:r>
            <a:r>
              <a:rPr lang="en-IN" sz="2000" b="1" dirty="0"/>
              <a:t>:</a:t>
            </a:r>
            <a:r>
              <a:rPr lang="en-IN" sz="2000" dirty="0"/>
              <a:t> “Commodity” is </a:t>
            </a:r>
            <a:r>
              <a:rPr lang="en-IN" sz="2000" b="1" dirty="0"/>
              <a:t>not </a:t>
            </a:r>
            <a:r>
              <a:rPr lang="en-IN" sz="2000" dirty="0"/>
              <a:t>defined as bulk materials but in the Broader sense as any article of           	    commerce including capital Equipment, high-value products, and professional services.</a:t>
            </a:r>
            <a:endParaRPr lang="en-US" sz="2000" dirty="0"/>
          </a:p>
          <a:p>
            <a:pPr>
              <a:buFont typeface="Wingdings" pitchFamily="2" charset="2"/>
              <a:buChar char="Ø"/>
            </a:pPr>
            <a:r>
              <a:rPr lang="en-IN" sz="2000" dirty="0"/>
              <a:t> Category titles are unambiguous and mutually exclusive</a:t>
            </a:r>
            <a:endParaRPr lang="en-US" sz="2000" dirty="0"/>
          </a:p>
          <a:p>
            <a:pPr>
              <a:buFont typeface="Wingdings" pitchFamily="2" charset="2"/>
              <a:buChar char="Ø"/>
            </a:pPr>
            <a:r>
              <a:rPr lang="en-IN" sz="2000" dirty="0"/>
              <a:t> Products appear in only one category; categories each have only had one parent.</a:t>
            </a:r>
            <a:endParaRPr lang="en-US" sz="2000" dirty="0"/>
          </a:p>
          <a:p>
            <a:pPr>
              <a:buFont typeface="Wingdings" pitchFamily="2" charset="2"/>
              <a:buChar char="Ø"/>
            </a:pPr>
            <a:r>
              <a:rPr lang="en-IN" sz="2000" dirty="0"/>
              <a:t> Products are grouped according to dominate usage in world market.</a:t>
            </a:r>
            <a:endParaRPr lang="en-US" sz="2000" dirty="0"/>
          </a:p>
          <a:p>
            <a:pPr marL="0" indent="0">
              <a:buNone/>
            </a:pPr>
            <a:endParaRPr lang="en-GB" dirty="0"/>
          </a:p>
          <a:p>
            <a:endParaRPr lang="en-GB"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5</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1847262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r>
              <a:rPr lang="en-IN" sz="3600" b="1" dirty="0"/>
              <a:t>UNSPSC Components:</a:t>
            </a:r>
            <a:endParaRPr lang="en-US" sz="3600" dirty="0"/>
          </a:p>
        </p:txBody>
      </p:sp>
      <p:sp>
        <p:nvSpPr>
          <p:cNvPr id="3" name="Content Placeholder 2"/>
          <p:cNvSpPr>
            <a:spLocks noGrp="1"/>
          </p:cNvSpPr>
          <p:nvPr>
            <p:ph idx="1"/>
          </p:nvPr>
        </p:nvSpPr>
        <p:spPr/>
        <p:txBody>
          <a:bodyPr/>
          <a:lstStyle/>
          <a:p>
            <a:pPr>
              <a:buFont typeface="Wingdings" pitchFamily="2" charset="2"/>
              <a:buChar char="Ø"/>
            </a:pPr>
            <a:r>
              <a:rPr lang="en-IN" sz="2000" dirty="0"/>
              <a:t> </a:t>
            </a:r>
            <a:r>
              <a:rPr lang="en-IN" sz="2000" b="1" dirty="0"/>
              <a:t>UNSPSC Code</a:t>
            </a:r>
            <a:r>
              <a:rPr lang="en-IN" sz="2000" dirty="0"/>
              <a:t>: 8 digits, e.g. 44103103.</a:t>
            </a:r>
            <a:endParaRPr lang="en-US" sz="2000" dirty="0"/>
          </a:p>
          <a:p>
            <a:pPr>
              <a:buFont typeface="Wingdings" pitchFamily="2" charset="2"/>
              <a:buChar char="Ø"/>
            </a:pPr>
            <a:r>
              <a:rPr lang="en-IN" sz="2000" dirty="0"/>
              <a:t> </a:t>
            </a:r>
            <a:r>
              <a:rPr lang="en-IN" sz="2000" b="1" dirty="0"/>
              <a:t>Title</a:t>
            </a:r>
            <a:r>
              <a:rPr lang="en-IN" sz="2000" dirty="0"/>
              <a:t>: natural language text up to 120 characters long,      e.g. “Toner”.</a:t>
            </a:r>
            <a:endParaRPr lang="en-US" sz="2000" dirty="0"/>
          </a:p>
          <a:p>
            <a:pPr>
              <a:buFont typeface="Wingdings" pitchFamily="2" charset="2"/>
              <a:buChar char="Ø"/>
            </a:pPr>
            <a:r>
              <a:rPr lang="en-IN" sz="2000" dirty="0"/>
              <a:t> </a:t>
            </a:r>
            <a:r>
              <a:rPr lang="en-IN" sz="2000" b="1" dirty="0"/>
              <a:t>Definition</a:t>
            </a:r>
            <a:r>
              <a:rPr lang="en-IN" sz="2000" dirty="0"/>
              <a:t>: free form text gives concise explanation.</a:t>
            </a:r>
            <a:endParaRPr lang="en-US" sz="2000" dirty="0"/>
          </a:p>
          <a:p>
            <a:pPr>
              <a:buFont typeface="Wingdings" pitchFamily="2" charset="2"/>
              <a:buChar char="Ø"/>
            </a:pPr>
            <a:r>
              <a:rPr lang="en-IN" sz="2000" dirty="0"/>
              <a:t> </a:t>
            </a:r>
            <a:r>
              <a:rPr lang="en-IN" sz="2000" b="1" dirty="0"/>
              <a:t>Business Function</a:t>
            </a:r>
            <a:r>
              <a:rPr lang="en-IN" sz="2000" dirty="0"/>
              <a:t>: 2-digit codes for Rental or Lease, Maintenance or Repair, Manufacturer, Wholesale, Retail, Recycle, Installation (optional to use).</a:t>
            </a: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6</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2308937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r>
              <a:rPr lang="en-IN" sz="3600" b="1" dirty="0"/>
              <a:t>UNSPSC Code Structure:</a:t>
            </a:r>
            <a:br>
              <a:rPr lang="en-US" sz="3600" dirty="0"/>
            </a:br>
            <a:endParaRPr lang="en-US" sz="3600" dirty="0"/>
          </a:p>
        </p:txBody>
      </p:sp>
      <p:sp>
        <p:nvSpPr>
          <p:cNvPr id="3" name="Content Placeholder 2"/>
          <p:cNvSpPr>
            <a:spLocks noGrp="1"/>
          </p:cNvSpPr>
          <p:nvPr>
            <p:ph idx="1"/>
          </p:nvPr>
        </p:nvSpPr>
        <p:spPr/>
        <p:txBody>
          <a:bodyPr/>
          <a:lstStyle/>
          <a:p>
            <a:pPr lvl="0">
              <a:buFont typeface="Wingdings" pitchFamily="2" charset="2"/>
              <a:buChar char="Ø"/>
            </a:pPr>
            <a:r>
              <a:rPr lang="en-IN" sz="2000" dirty="0"/>
              <a:t> Segment </a:t>
            </a:r>
            <a:r>
              <a:rPr lang="en-IN" sz="2000" b="1" dirty="0"/>
              <a:t>44</a:t>
            </a:r>
            <a:r>
              <a:rPr lang="en-IN" sz="2000" dirty="0"/>
              <a:t>000000 Office Equipment and Accessories and Supplies.</a:t>
            </a:r>
            <a:endParaRPr lang="en-US" sz="2000" dirty="0"/>
          </a:p>
          <a:p>
            <a:pPr lvl="0">
              <a:buFont typeface="Wingdings" pitchFamily="2" charset="2"/>
              <a:buChar char="Ø"/>
            </a:pPr>
            <a:r>
              <a:rPr lang="en-IN" sz="2000" dirty="0"/>
              <a:t>Family 44</a:t>
            </a:r>
            <a:r>
              <a:rPr lang="en-IN" sz="2000" b="1" dirty="0"/>
              <a:t>10</a:t>
            </a:r>
            <a:r>
              <a:rPr lang="en-IN" sz="2000" dirty="0"/>
              <a:t>0000 Office machines and their supplies and accessories.</a:t>
            </a:r>
            <a:endParaRPr lang="en-US" sz="2000" dirty="0"/>
          </a:p>
          <a:p>
            <a:pPr lvl="0">
              <a:buFont typeface="Wingdings" pitchFamily="2" charset="2"/>
              <a:buChar char="Ø"/>
            </a:pPr>
            <a:r>
              <a:rPr lang="en-IN" sz="2000" dirty="0"/>
              <a:t>Class 4410</a:t>
            </a:r>
            <a:r>
              <a:rPr lang="en-IN" sz="2000" b="1" dirty="0"/>
              <a:t>31</a:t>
            </a:r>
            <a:r>
              <a:rPr lang="en-IN" sz="2000" dirty="0"/>
              <a:t>00 Printer and facsimile and photocopier supplies.</a:t>
            </a:r>
            <a:endParaRPr lang="en-US" sz="2000" dirty="0"/>
          </a:p>
          <a:p>
            <a:pPr lvl="0">
              <a:buFont typeface="Wingdings" pitchFamily="2" charset="2"/>
              <a:buChar char="Ø"/>
            </a:pPr>
            <a:r>
              <a:rPr lang="en-IN" sz="2000" dirty="0"/>
              <a:t>Commodity 441031</a:t>
            </a:r>
            <a:r>
              <a:rPr lang="en-IN" sz="2000" b="1" dirty="0"/>
              <a:t>03 </a:t>
            </a:r>
            <a:r>
              <a:rPr lang="en-IN" sz="2000" dirty="0"/>
              <a:t>Toner.</a:t>
            </a: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7</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876855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r>
              <a:rPr lang="en-IN" sz="3600" b="1" dirty="0"/>
              <a:t>UNSPSC Segments:</a:t>
            </a:r>
            <a:br>
              <a:rPr lang="en-US" sz="3600" dirty="0"/>
            </a:br>
            <a:br>
              <a:rPr lang="en-US" sz="3600" dirty="0"/>
            </a:br>
            <a:endParaRPr lang="en-US" sz="3600" dirty="0"/>
          </a:p>
        </p:txBody>
      </p:sp>
      <p:sp>
        <p:nvSpPr>
          <p:cNvPr id="3" name="Content Placeholder 2"/>
          <p:cNvSpPr>
            <a:spLocks noGrp="1"/>
          </p:cNvSpPr>
          <p:nvPr>
            <p:ph idx="1"/>
          </p:nvPr>
        </p:nvSpPr>
        <p:spPr/>
        <p:txBody>
          <a:bodyPr/>
          <a:lstStyle/>
          <a:p>
            <a:pPr>
              <a:buFont typeface="Wingdings" pitchFamily="2" charset="2"/>
              <a:buChar char="Ø"/>
            </a:pPr>
            <a:r>
              <a:rPr lang="en-IN" sz="2000" dirty="0"/>
              <a:t> The 55 Segments are arranged in a logical sequence that</a:t>
            </a:r>
            <a:endParaRPr lang="en-US" sz="2000" dirty="0"/>
          </a:p>
          <a:p>
            <a:pPr>
              <a:buFont typeface="Wingdings" pitchFamily="2" charset="2"/>
              <a:buChar char="Ø"/>
            </a:pPr>
            <a:r>
              <a:rPr lang="en-IN" sz="2000" dirty="0"/>
              <a:t> Reflects how value is progressively added to products.</a:t>
            </a:r>
            <a:endParaRPr lang="en-US" sz="2000" dirty="0"/>
          </a:p>
          <a:p>
            <a:pPr>
              <a:buFont typeface="Wingdings" pitchFamily="2" charset="2"/>
              <a:buChar char="Ø"/>
            </a:pPr>
            <a:r>
              <a:rPr lang="en-IN" sz="2000" b="1" dirty="0"/>
              <a:t> Raw Materials=&gt;Industrial Equipment=&gt;Components and Supplies=&gt;End Use Products=&gt;       Services</a:t>
            </a:r>
            <a:r>
              <a:rPr lang="en-IN" sz="2000" dirty="0"/>
              <a:t>.</a:t>
            </a:r>
          </a:p>
          <a:p>
            <a:pPr lvl="0">
              <a:buFont typeface="Wingdings" pitchFamily="2" charset="2"/>
              <a:buChar char="Ø"/>
            </a:pPr>
            <a:r>
              <a:rPr lang="en-IN" sz="2000" dirty="0"/>
              <a:t> Raw Materials[Segments 10-15],Industrial </a:t>
            </a:r>
            <a:r>
              <a:rPr lang="en-IN" sz="2000" dirty="0" err="1"/>
              <a:t>Eqipment</a:t>
            </a:r>
            <a:r>
              <a:rPr lang="en-IN" sz="2000" dirty="0"/>
              <a:t>[Segments 20-27],Components And Supplies[Segments 30-41],End Use Products[Segments 42-60],Services[Segments 70-94].</a:t>
            </a:r>
            <a:endParaRPr lang="en-US" sz="2000" dirty="0"/>
          </a:p>
          <a:p>
            <a:pPr lvl="0">
              <a:buFont typeface="Wingdings" pitchFamily="2" charset="2"/>
              <a:buChar char="Ø"/>
            </a:pPr>
            <a:r>
              <a:rPr lang="en-IN" sz="2000" dirty="0"/>
              <a:t> Family, Class and Commodity codes are arbitrary, and</a:t>
            </a:r>
            <a:endParaRPr lang="en-US" sz="2000" dirty="0"/>
          </a:p>
          <a:p>
            <a:pPr lvl="0">
              <a:buFont typeface="Wingdings" pitchFamily="2" charset="2"/>
              <a:buChar char="Ø"/>
            </a:pPr>
            <a:r>
              <a:rPr lang="en-IN" sz="2000" dirty="0"/>
              <a:t> Reflect no logical sequence.</a:t>
            </a:r>
            <a:endParaRPr lang="en-US" sz="2000" dirty="0"/>
          </a:p>
          <a:p>
            <a:pPr>
              <a:buFont typeface="Wingdings" pitchFamily="2" charset="2"/>
              <a:buChar char="Ø"/>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8</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1344205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r>
              <a:rPr lang="en-IN" sz="3600" b="1" dirty="0"/>
              <a:t>How to Implement UNSPSC?</a:t>
            </a:r>
            <a:br>
              <a:rPr lang="en-US" sz="3600" dirty="0"/>
            </a:br>
            <a:br>
              <a:rPr lang="en-US" sz="3600" dirty="0"/>
            </a:br>
            <a:br>
              <a:rPr lang="en-US" sz="3600" dirty="0"/>
            </a:br>
            <a:endParaRPr lang="en-US" sz="3600" dirty="0"/>
          </a:p>
        </p:txBody>
      </p:sp>
      <p:sp>
        <p:nvSpPr>
          <p:cNvPr id="3" name="Content Placeholder 2"/>
          <p:cNvSpPr>
            <a:spLocks noGrp="1"/>
          </p:cNvSpPr>
          <p:nvPr>
            <p:ph idx="1"/>
          </p:nvPr>
        </p:nvSpPr>
        <p:spPr/>
        <p:txBody>
          <a:bodyPr/>
          <a:lstStyle/>
          <a:p>
            <a:pPr>
              <a:buFont typeface="Wingdings" pitchFamily="2" charset="2"/>
              <a:buChar char="Ø"/>
            </a:pPr>
            <a:r>
              <a:rPr lang="en-IN" sz="2000" dirty="0"/>
              <a:t>  Classify products: enter the appropriate 8-digit UNSPSC Code against each item in your system.</a:t>
            </a:r>
            <a:endParaRPr lang="en-US" sz="2000" dirty="0"/>
          </a:p>
          <a:p>
            <a:pPr>
              <a:buFont typeface="Wingdings" pitchFamily="2" charset="2"/>
              <a:buChar char="Ø"/>
            </a:pPr>
            <a:r>
              <a:rPr lang="en-IN" sz="2000" dirty="0"/>
              <a:t>  Store the UNSPSC Titles in a look-up table.</a:t>
            </a:r>
            <a:endParaRPr lang="en-US" sz="2000" dirty="0"/>
          </a:p>
          <a:p>
            <a:pPr>
              <a:buFont typeface="Wingdings" pitchFamily="2" charset="2"/>
              <a:buChar char="Ø"/>
            </a:pPr>
            <a:r>
              <a:rPr lang="en-IN" sz="2000" dirty="0"/>
              <a:t>  If a code for your product does not exist, temporarily use the parent category and submit a        request for a new code.</a:t>
            </a:r>
            <a:endParaRPr lang="en-US" sz="2000" dirty="0"/>
          </a:p>
          <a:p>
            <a:pPr>
              <a:buFont typeface="Wingdings" pitchFamily="2" charset="2"/>
              <a:buChar char="Ø"/>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9</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3831011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br>
              <a:rPr lang="en-IN" sz="3600" b="1" dirty="0"/>
            </a:br>
            <a:r>
              <a:rPr lang="en-IN" sz="3600" b="1" dirty="0"/>
              <a:t>Advantages of UNSPSC:</a:t>
            </a:r>
            <a:br>
              <a:rPr lang="en-US" sz="3600" dirty="0"/>
            </a:br>
            <a:br>
              <a:rPr lang="en-US" sz="3600" dirty="0"/>
            </a:br>
            <a:br>
              <a:rPr lang="en-US" sz="3600" dirty="0"/>
            </a:br>
            <a:br>
              <a:rPr lang="en-US" sz="3600" dirty="0"/>
            </a:br>
            <a:endParaRPr lang="en-US" sz="3600" dirty="0"/>
          </a:p>
        </p:txBody>
      </p:sp>
      <p:sp>
        <p:nvSpPr>
          <p:cNvPr id="3" name="Content Placeholder 2"/>
          <p:cNvSpPr>
            <a:spLocks noGrp="1"/>
          </p:cNvSpPr>
          <p:nvPr>
            <p:ph idx="1"/>
          </p:nvPr>
        </p:nvSpPr>
        <p:spPr/>
        <p:txBody>
          <a:bodyPr/>
          <a:lstStyle/>
          <a:p>
            <a:pPr>
              <a:buFont typeface="Wingdings" pitchFamily="2" charset="2"/>
              <a:buChar char="Ø"/>
            </a:pPr>
            <a:r>
              <a:rPr lang="en-IN" sz="2000" dirty="0"/>
              <a:t> Segments exist for:</a:t>
            </a:r>
            <a:endParaRPr lang="en-US" sz="2000" dirty="0"/>
          </a:p>
          <a:p>
            <a:pPr>
              <a:buFont typeface="Wingdings" pitchFamily="2" charset="2"/>
              <a:buChar char="Ø"/>
            </a:pPr>
            <a:r>
              <a:rPr lang="en-IN" sz="2000" dirty="0"/>
              <a:t> Raw materials</a:t>
            </a:r>
            <a:endParaRPr lang="en-US" sz="2000" dirty="0"/>
          </a:p>
          <a:p>
            <a:pPr>
              <a:buFont typeface="Wingdings" pitchFamily="2" charset="2"/>
              <a:buChar char="Ø"/>
            </a:pPr>
            <a:r>
              <a:rPr lang="en-IN" sz="2000" dirty="0"/>
              <a:t> Industrial equipment</a:t>
            </a:r>
            <a:endParaRPr lang="en-US" sz="2000" dirty="0"/>
          </a:p>
          <a:p>
            <a:pPr>
              <a:buFont typeface="Wingdings" pitchFamily="2" charset="2"/>
              <a:buChar char="Ø"/>
            </a:pPr>
            <a:r>
              <a:rPr lang="en-IN" sz="2000" dirty="0"/>
              <a:t> Components and supplies</a:t>
            </a:r>
            <a:endParaRPr lang="en-US" sz="2000" dirty="0"/>
          </a:p>
          <a:p>
            <a:pPr>
              <a:buFont typeface="Wingdings" pitchFamily="2" charset="2"/>
              <a:buChar char="Ø"/>
            </a:pPr>
            <a:r>
              <a:rPr lang="en-IN" sz="2000" dirty="0"/>
              <a:t> End-use products</a:t>
            </a:r>
            <a:endParaRPr lang="en-US" sz="2000" dirty="0"/>
          </a:p>
          <a:p>
            <a:pPr>
              <a:buFont typeface="Wingdings" pitchFamily="2" charset="2"/>
              <a:buChar char="Ø"/>
            </a:pPr>
            <a:r>
              <a:rPr lang="en-IN" sz="2000" dirty="0"/>
              <a:t> Services</a:t>
            </a:r>
            <a:endParaRPr lang="en-US" sz="2000" dirty="0"/>
          </a:p>
          <a:p>
            <a:pPr>
              <a:buFont typeface="Wingdings" pitchFamily="2" charset="2"/>
              <a:buChar char="Ø"/>
            </a:pPr>
            <a:r>
              <a:rPr lang="en-IN" sz="2000" dirty="0"/>
              <a:t> Comprehensive: over 20,000 categories.</a:t>
            </a:r>
            <a:endParaRPr lang="en-US" sz="2000" dirty="0"/>
          </a:p>
          <a:p>
            <a:pPr>
              <a:buFont typeface="Wingdings" pitchFamily="2" charset="2"/>
              <a:buChar char="Ø"/>
            </a:pPr>
            <a:r>
              <a:rPr lang="en-IN" sz="2000" dirty="0"/>
              <a:t> Responsive to the marketplace.</a:t>
            </a: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10</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3674045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br>
              <a:rPr lang="en-IN" sz="3600" b="1" dirty="0"/>
            </a:br>
            <a:br>
              <a:rPr lang="en-IN" sz="3600" b="1" dirty="0"/>
            </a:br>
            <a:r>
              <a:rPr lang="en-IN" sz="3600" b="1" dirty="0"/>
              <a:t>How to Use UNSPSC Searcher?</a:t>
            </a:r>
            <a:br>
              <a:rPr lang="en-US" sz="3600" dirty="0"/>
            </a:br>
            <a:br>
              <a:rPr lang="en-US" sz="3600" dirty="0"/>
            </a:br>
            <a:br>
              <a:rPr lang="en-US" sz="3600" dirty="0"/>
            </a:br>
            <a:br>
              <a:rPr lang="en-US" sz="3600" dirty="0"/>
            </a:br>
            <a:br>
              <a:rPr lang="en-US" sz="3600" dirty="0"/>
            </a:br>
            <a:endParaRPr lang="en-US" sz="3600" dirty="0"/>
          </a:p>
        </p:txBody>
      </p:sp>
      <p:sp>
        <p:nvSpPr>
          <p:cNvPr id="3" name="Content Placeholder 2"/>
          <p:cNvSpPr>
            <a:spLocks noGrp="1"/>
          </p:cNvSpPr>
          <p:nvPr>
            <p:ph idx="1"/>
          </p:nvPr>
        </p:nvSpPr>
        <p:spPr/>
        <p:txBody>
          <a:bodyPr/>
          <a:lstStyle/>
          <a:p>
            <a:pPr marL="0" indent="0">
              <a:buNone/>
            </a:pPr>
            <a:r>
              <a:rPr lang="en-IN" sz="2000" b="1" dirty="0"/>
              <a:t>Step1:</a:t>
            </a:r>
            <a:r>
              <a:rPr lang="en-IN" sz="2000" dirty="0"/>
              <a:t> Click on ‘Search UNSPSC’ option of UNSPSC submodule. Application creates a new tab ‘Search UNSPSC’ and it opens UNSPSC Searcher page in this tab. Select the version from which you want to search the code and category. Application displays the latest version as the default version.</a:t>
            </a:r>
          </a:p>
          <a:p>
            <a:pPr marL="0" indent="0">
              <a:buNone/>
            </a:pPr>
            <a:r>
              <a:rPr lang="en-IN" sz="2000" dirty="0"/>
              <a:t>Lock the version by clicking on ‘Lock’ checkbox.</a:t>
            </a:r>
          </a:p>
          <a:p>
            <a:pPr marL="0" indent="0">
              <a:buNone/>
            </a:pPr>
            <a:r>
              <a:rPr lang="en-IN" sz="2000" dirty="0"/>
              <a:t>You can use shortcut keys to access all controls.</a:t>
            </a: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11</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pic>
        <p:nvPicPr>
          <p:cNvPr id="7" name="Picture 6">
            <a:extLst>
              <a:ext uri="{FF2B5EF4-FFF2-40B4-BE49-F238E27FC236}">
                <a16:creationId xmlns:a16="http://schemas.microsoft.com/office/drawing/2014/main" id="{53A4B51A-5F35-3DC0-2AD6-3C7040643648}"/>
              </a:ext>
            </a:extLst>
          </p:cNvPr>
          <p:cNvPicPr>
            <a:picLocks noChangeAspect="1"/>
          </p:cNvPicPr>
          <p:nvPr/>
        </p:nvPicPr>
        <p:blipFill>
          <a:blip r:embed="rId2"/>
          <a:stretch>
            <a:fillRect/>
          </a:stretch>
        </p:blipFill>
        <p:spPr>
          <a:xfrm>
            <a:off x="943967" y="4356847"/>
            <a:ext cx="9934703" cy="708805"/>
          </a:xfrm>
          <a:prstGeom prst="rect">
            <a:avLst/>
          </a:prstGeom>
        </p:spPr>
      </p:pic>
    </p:spTree>
    <p:extLst>
      <p:ext uri="{BB962C8B-B14F-4D97-AF65-F5344CB8AC3E}">
        <p14:creationId xmlns:p14="http://schemas.microsoft.com/office/powerpoint/2010/main" val="1864243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br>
              <a:rPr lang="en-IN" sz="3600" b="1" dirty="0"/>
            </a:br>
            <a:br>
              <a:rPr lang="en-IN" sz="3600" b="1" dirty="0"/>
            </a:br>
            <a:br>
              <a:rPr lang="en-US" sz="3600" dirty="0"/>
            </a:br>
            <a:br>
              <a:rPr lang="en-US" sz="3600" dirty="0"/>
            </a:br>
            <a:br>
              <a:rPr lang="en-US" sz="3600" dirty="0"/>
            </a:br>
            <a:br>
              <a:rPr lang="en-US" sz="3600" dirty="0"/>
            </a:br>
            <a:endParaRPr lang="en-US" sz="3600" dirty="0"/>
          </a:p>
        </p:txBody>
      </p:sp>
      <p:sp>
        <p:nvSpPr>
          <p:cNvPr id="3" name="Content Placeholder 2"/>
          <p:cNvSpPr>
            <a:spLocks noGrp="1"/>
          </p:cNvSpPr>
          <p:nvPr>
            <p:ph idx="1"/>
          </p:nvPr>
        </p:nvSpPr>
        <p:spPr>
          <a:xfrm>
            <a:off x="838200" y="411480"/>
            <a:ext cx="10515600" cy="5765483"/>
          </a:xfrm>
        </p:spPr>
        <p:txBody>
          <a:bodyPr/>
          <a:lstStyle/>
          <a:p>
            <a:r>
              <a:rPr lang="en-IN" sz="2000" b="1" dirty="0"/>
              <a:t>Step2:</a:t>
            </a:r>
            <a:r>
              <a:rPr lang="en-IN" sz="2000" dirty="0"/>
              <a:t> Type Keyword1 or Keyword2 then select the operations in which you like [AND, OR, DO NOT CONTAIN] as well and hit Search button or Enter to retrieve the results in Search Results screen. Which is showed below. Application shows the count of no. of rows, satisfying the search criteria.</a:t>
            </a: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12</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pic>
        <p:nvPicPr>
          <p:cNvPr id="7" name="Picture 6">
            <a:extLst>
              <a:ext uri="{FF2B5EF4-FFF2-40B4-BE49-F238E27FC236}">
                <a16:creationId xmlns:a16="http://schemas.microsoft.com/office/drawing/2014/main" id="{8E129511-1D7D-065C-F4FA-7CC26E864AE2}"/>
              </a:ext>
            </a:extLst>
          </p:cNvPr>
          <p:cNvPicPr>
            <a:picLocks noChangeAspect="1"/>
          </p:cNvPicPr>
          <p:nvPr/>
        </p:nvPicPr>
        <p:blipFill>
          <a:blip r:embed="rId2"/>
          <a:stretch>
            <a:fillRect/>
          </a:stretch>
        </p:blipFill>
        <p:spPr>
          <a:xfrm>
            <a:off x="3209522" y="1415938"/>
            <a:ext cx="5248678" cy="4980181"/>
          </a:xfrm>
          <a:prstGeom prst="rect">
            <a:avLst/>
          </a:prstGeom>
        </p:spPr>
      </p:pic>
    </p:spTree>
    <p:extLst>
      <p:ext uri="{BB962C8B-B14F-4D97-AF65-F5344CB8AC3E}">
        <p14:creationId xmlns:p14="http://schemas.microsoft.com/office/powerpoint/2010/main" val="2015604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br>
              <a:rPr lang="en-IN" sz="3600" b="1" dirty="0"/>
            </a:br>
            <a:br>
              <a:rPr lang="en-IN" sz="3600" b="1" dirty="0"/>
            </a:br>
            <a:br>
              <a:rPr lang="en-US" sz="3600" dirty="0"/>
            </a:br>
            <a:br>
              <a:rPr lang="en-US" sz="3600" dirty="0"/>
            </a:br>
            <a:br>
              <a:rPr lang="en-US" sz="3600" dirty="0"/>
            </a:br>
            <a:br>
              <a:rPr lang="en-US" sz="3600" dirty="0"/>
            </a:br>
            <a:endParaRPr lang="en-US" sz="3600" dirty="0"/>
          </a:p>
        </p:txBody>
      </p:sp>
      <p:sp>
        <p:nvSpPr>
          <p:cNvPr id="3" name="Content Placeholder 2"/>
          <p:cNvSpPr>
            <a:spLocks noGrp="1"/>
          </p:cNvSpPr>
          <p:nvPr>
            <p:ph idx="1"/>
          </p:nvPr>
        </p:nvSpPr>
        <p:spPr>
          <a:xfrm>
            <a:off x="838200" y="411480"/>
            <a:ext cx="10515600" cy="5765483"/>
          </a:xfrm>
        </p:spPr>
        <p:txBody>
          <a:bodyPr/>
          <a:lstStyle/>
          <a:p>
            <a:r>
              <a:rPr lang="en-IN" sz="2000" dirty="0"/>
              <a:t>In the above screen you can find Segment, Family, Class, and Commodity in Search Results screen with coloured data. So that you can easily find the category of Search Results.</a:t>
            </a: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13</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pic>
        <p:nvPicPr>
          <p:cNvPr id="7" name="Picture 6">
            <a:extLst>
              <a:ext uri="{FF2B5EF4-FFF2-40B4-BE49-F238E27FC236}">
                <a16:creationId xmlns:a16="http://schemas.microsoft.com/office/drawing/2014/main" id="{7B7958C3-99D1-AD8C-86B4-12F2402C7C97}"/>
              </a:ext>
            </a:extLst>
          </p:cNvPr>
          <p:cNvPicPr>
            <a:picLocks noChangeAspect="1"/>
          </p:cNvPicPr>
          <p:nvPr/>
        </p:nvPicPr>
        <p:blipFill>
          <a:blip r:embed="rId2"/>
          <a:stretch>
            <a:fillRect/>
          </a:stretch>
        </p:blipFill>
        <p:spPr>
          <a:xfrm>
            <a:off x="838201" y="1121283"/>
            <a:ext cx="10515600" cy="5102035"/>
          </a:xfrm>
          <a:prstGeom prst="rect">
            <a:avLst/>
          </a:prstGeom>
        </p:spPr>
      </p:pic>
    </p:spTree>
    <p:extLst>
      <p:ext uri="{BB962C8B-B14F-4D97-AF65-F5344CB8AC3E}">
        <p14:creationId xmlns:p14="http://schemas.microsoft.com/office/powerpoint/2010/main" val="3462775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br>
              <a:rPr lang="en-IN" sz="3600" b="1" dirty="0"/>
            </a:br>
            <a:br>
              <a:rPr lang="en-IN" sz="3600" b="1" dirty="0"/>
            </a:br>
            <a:br>
              <a:rPr lang="en-US" sz="3600" dirty="0"/>
            </a:br>
            <a:br>
              <a:rPr lang="en-US" sz="3600" dirty="0"/>
            </a:br>
            <a:br>
              <a:rPr lang="en-US" sz="3600" dirty="0"/>
            </a:br>
            <a:br>
              <a:rPr lang="en-US" sz="3600" dirty="0"/>
            </a:br>
            <a:endParaRPr lang="en-US" sz="3600" dirty="0"/>
          </a:p>
        </p:txBody>
      </p:sp>
      <p:sp>
        <p:nvSpPr>
          <p:cNvPr id="3" name="Content Placeholder 2"/>
          <p:cNvSpPr>
            <a:spLocks noGrp="1"/>
          </p:cNvSpPr>
          <p:nvPr>
            <p:ph idx="1"/>
          </p:nvPr>
        </p:nvSpPr>
        <p:spPr>
          <a:xfrm>
            <a:off x="838200" y="411480"/>
            <a:ext cx="10515600" cy="5765483"/>
          </a:xfrm>
        </p:spPr>
        <p:txBody>
          <a:bodyPr/>
          <a:lstStyle/>
          <a:p>
            <a:pPr>
              <a:buFont typeface="Wingdings" pitchFamily="2" charset="2"/>
              <a:buChar char="Ø"/>
            </a:pPr>
            <a:r>
              <a:rPr lang="en-IN" sz="2000" b="1" dirty="0"/>
              <a:t> Step3:</a:t>
            </a:r>
            <a:r>
              <a:rPr lang="en-IN" sz="2000" dirty="0"/>
              <a:t> After selecting particular data in Search Results screen. It’ll show the Hierarchy for each     Selected Item which is showed in above picture.</a:t>
            </a: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14</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pic>
        <p:nvPicPr>
          <p:cNvPr id="7" name="Picture 6">
            <a:extLst>
              <a:ext uri="{FF2B5EF4-FFF2-40B4-BE49-F238E27FC236}">
                <a16:creationId xmlns:a16="http://schemas.microsoft.com/office/drawing/2014/main" id="{AC173FB3-D4F2-6E03-BFCD-DCF2B0ADE068}"/>
              </a:ext>
            </a:extLst>
          </p:cNvPr>
          <p:cNvPicPr>
            <a:picLocks noChangeAspect="1"/>
          </p:cNvPicPr>
          <p:nvPr/>
        </p:nvPicPr>
        <p:blipFill>
          <a:blip r:embed="rId2"/>
          <a:stretch>
            <a:fillRect/>
          </a:stretch>
        </p:blipFill>
        <p:spPr>
          <a:xfrm>
            <a:off x="838200" y="1383030"/>
            <a:ext cx="10995212" cy="2045970"/>
          </a:xfrm>
          <a:prstGeom prst="rect">
            <a:avLst/>
          </a:prstGeom>
        </p:spPr>
      </p:pic>
    </p:spTree>
    <p:extLst>
      <p:ext uri="{BB962C8B-B14F-4D97-AF65-F5344CB8AC3E}">
        <p14:creationId xmlns:p14="http://schemas.microsoft.com/office/powerpoint/2010/main" val="1417602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br>
              <a:rPr lang="en-IN" sz="3600" b="1" dirty="0"/>
            </a:br>
            <a:br>
              <a:rPr lang="en-IN" sz="3600" b="1" dirty="0"/>
            </a:br>
            <a:br>
              <a:rPr lang="en-US" sz="3600" dirty="0"/>
            </a:br>
            <a:br>
              <a:rPr lang="en-US" sz="3600" dirty="0"/>
            </a:br>
            <a:br>
              <a:rPr lang="en-US" sz="3600" dirty="0"/>
            </a:br>
            <a:br>
              <a:rPr lang="en-US" sz="3600" dirty="0"/>
            </a:br>
            <a:endParaRPr lang="en-US" sz="3600" dirty="0"/>
          </a:p>
        </p:txBody>
      </p:sp>
      <p:sp>
        <p:nvSpPr>
          <p:cNvPr id="3" name="Content Placeholder 2"/>
          <p:cNvSpPr>
            <a:spLocks noGrp="1"/>
          </p:cNvSpPr>
          <p:nvPr>
            <p:ph idx="1"/>
          </p:nvPr>
        </p:nvSpPr>
        <p:spPr>
          <a:xfrm>
            <a:off x="838200" y="411480"/>
            <a:ext cx="10515600" cy="5765483"/>
          </a:xfrm>
        </p:spPr>
        <p:txBody>
          <a:bodyPr/>
          <a:lstStyle/>
          <a:p>
            <a:pPr marL="0" indent="0">
              <a:buNone/>
            </a:pPr>
            <a:r>
              <a:rPr lang="en-IN" sz="2000" b="1" dirty="0"/>
              <a:t>Screen Shot for Griha UNSPSC Searcher. If you click on any of Segment, Family, Class, or commodity – application shows selected code and category, code, Category in the bottom text fields.</a:t>
            </a: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15</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pic>
        <p:nvPicPr>
          <p:cNvPr id="6" name="Picture 5">
            <a:extLst>
              <a:ext uri="{FF2B5EF4-FFF2-40B4-BE49-F238E27FC236}">
                <a16:creationId xmlns:a16="http://schemas.microsoft.com/office/drawing/2014/main" id="{65632ACE-58AC-DB2C-A8BF-17CEAD0F7733}"/>
              </a:ext>
            </a:extLst>
          </p:cNvPr>
          <p:cNvPicPr>
            <a:picLocks noChangeAspect="1"/>
          </p:cNvPicPr>
          <p:nvPr/>
        </p:nvPicPr>
        <p:blipFill>
          <a:blip r:embed="rId2"/>
          <a:stretch>
            <a:fillRect/>
          </a:stretch>
        </p:blipFill>
        <p:spPr>
          <a:xfrm>
            <a:off x="838200" y="1383030"/>
            <a:ext cx="10515600" cy="5102035"/>
          </a:xfrm>
          <a:prstGeom prst="rect">
            <a:avLst/>
          </a:prstGeom>
        </p:spPr>
      </p:pic>
    </p:spTree>
    <p:extLst>
      <p:ext uri="{BB962C8B-B14F-4D97-AF65-F5344CB8AC3E}">
        <p14:creationId xmlns:p14="http://schemas.microsoft.com/office/powerpoint/2010/main" val="2611942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br>
              <a:rPr lang="en-IN" sz="3600" b="1" dirty="0"/>
            </a:br>
            <a:br>
              <a:rPr lang="en-IN" sz="3600" b="1" dirty="0"/>
            </a:br>
            <a:br>
              <a:rPr lang="en-US" sz="3600" dirty="0"/>
            </a:br>
            <a:br>
              <a:rPr lang="en-US" sz="3600" dirty="0"/>
            </a:br>
            <a:br>
              <a:rPr lang="en-US" sz="3600" dirty="0"/>
            </a:br>
            <a:br>
              <a:rPr lang="en-US" sz="3600" dirty="0"/>
            </a:br>
            <a:endParaRPr lang="en-US" sz="3600" dirty="0"/>
          </a:p>
        </p:txBody>
      </p:sp>
      <p:sp>
        <p:nvSpPr>
          <p:cNvPr id="3" name="Content Placeholder 2"/>
          <p:cNvSpPr>
            <a:spLocks noGrp="1"/>
          </p:cNvSpPr>
          <p:nvPr>
            <p:ph idx="1"/>
          </p:nvPr>
        </p:nvSpPr>
        <p:spPr>
          <a:xfrm>
            <a:off x="838200" y="411480"/>
            <a:ext cx="10515600" cy="5765483"/>
          </a:xfrm>
        </p:spPr>
        <p:txBody>
          <a:bodyPr/>
          <a:lstStyle/>
          <a:p>
            <a:pPr marL="0" indent="0">
              <a:buNone/>
            </a:pPr>
            <a:endParaRPr lang="en-IN" sz="2000" dirty="0"/>
          </a:p>
          <a:p>
            <a:pPr marL="0" indent="0">
              <a:buNone/>
            </a:pPr>
            <a:r>
              <a:rPr lang="en-IN" sz="2000" b="1" dirty="0"/>
              <a:t>List of Shortcut Keys to Access UNSPSC Searcher:</a:t>
            </a:r>
          </a:p>
          <a:p>
            <a:pPr>
              <a:buFont typeface="Wingdings" pitchFamily="2" charset="2"/>
              <a:buChar char="Ø"/>
            </a:pPr>
            <a:endParaRPr lang="en-US" sz="2000" dirty="0"/>
          </a:p>
          <a:p>
            <a:pPr>
              <a:buFont typeface="Wingdings" pitchFamily="2" charset="2"/>
              <a:buChar char="Ø"/>
            </a:pPr>
            <a:r>
              <a:rPr lang="en-IN" sz="2000" dirty="0"/>
              <a:t>Alt+V   </a:t>
            </a:r>
            <a:r>
              <a:rPr lang="en-IN" sz="2000" dirty="0">
                <a:sym typeface="Wingdings"/>
              </a:rPr>
              <a:t></a:t>
            </a:r>
            <a:r>
              <a:rPr lang="en-IN" sz="2000" dirty="0"/>
              <a:t> Select Version</a:t>
            </a:r>
            <a:endParaRPr lang="en-US" sz="2000" dirty="0"/>
          </a:p>
          <a:p>
            <a:pPr>
              <a:buFont typeface="Wingdings" pitchFamily="2" charset="2"/>
              <a:buChar char="Ø"/>
            </a:pPr>
            <a:r>
              <a:rPr lang="en-IN" sz="2000" dirty="0"/>
              <a:t> Alt+L    </a:t>
            </a:r>
            <a:r>
              <a:rPr lang="en-IN" sz="2000" dirty="0">
                <a:sym typeface="Wingdings"/>
              </a:rPr>
              <a:t></a:t>
            </a:r>
            <a:r>
              <a:rPr lang="en-IN" sz="2000" dirty="0"/>
              <a:t> Lock Version</a:t>
            </a:r>
            <a:endParaRPr lang="en-US" sz="2000" dirty="0"/>
          </a:p>
          <a:p>
            <a:pPr>
              <a:buFont typeface="Wingdings" pitchFamily="2" charset="2"/>
              <a:buChar char="Ø"/>
            </a:pPr>
            <a:r>
              <a:rPr lang="en-IN" sz="2000" dirty="0"/>
              <a:t> Alt+H   </a:t>
            </a:r>
            <a:r>
              <a:rPr lang="en-IN" sz="2000" dirty="0">
                <a:sym typeface="Wingdings"/>
              </a:rPr>
              <a:t></a:t>
            </a:r>
            <a:r>
              <a:rPr lang="en-IN" sz="2000" dirty="0"/>
              <a:t> Keyword1</a:t>
            </a:r>
            <a:endParaRPr lang="en-US" sz="2000" dirty="0"/>
          </a:p>
          <a:p>
            <a:pPr>
              <a:buFont typeface="Wingdings" pitchFamily="2" charset="2"/>
              <a:buChar char="Ø"/>
            </a:pPr>
            <a:r>
              <a:rPr lang="en-IN" sz="2000" dirty="0"/>
              <a:t> Alt+I    </a:t>
            </a:r>
            <a:r>
              <a:rPr lang="en-IN" sz="2000" dirty="0">
                <a:sym typeface="Wingdings"/>
              </a:rPr>
              <a:t></a:t>
            </a:r>
            <a:r>
              <a:rPr lang="en-IN" sz="2000" dirty="0"/>
              <a:t> Keyword2</a:t>
            </a:r>
            <a:endParaRPr lang="en-US" sz="2000" dirty="0"/>
          </a:p>
          <a:p>
            <a:pPr>
              <a:buFont typeface="Wingdings" pitchFamily="2" charset="2"/>
              <a:buChar char="Ø"/>
            </a:pPr>
            <a:r>
              <a:rPr lang="en-IN" sz="2000" dirty="0"/>
              <a:t> </a:t>
            </a:r>
            <a:r>
              <a:rPr lang="en-IN" sz="2000" dirty="0" err="1"/>
              <a:t>Alt+B</a:t>
            </a:r>
            <a:r>
              <a:rPr lang="en-IN" sz="2000" dirty="0"/>
              <a:t>  </a:t>
            </a:r>
            <a:r>
              <a:rPr lang="en-IN" sz="2000" dirty="0">
                <a:sym typeface="Wingdings"/>
              </a:rPr>
              <a:t></a:t>
            </a:r>
            <a:r>
              <a:rPr lang="en-IN" sz="2000" dirty="0"/>
              <a:t> Code1</a:t>
            </a:r>
            <a:endParaRPr lang="en-US" sz="2000" dirty="0"/>
          </a:p>
          <a:p>
            <a:pPr>
              <a:buFont typeface="Wingdings" pitchFamily="2" charset="2"/>
              <a:buChar char="Ø"/>
            </a:pPr>
            <a:r>
              <a:rPr lang="en-IN" sz="2000" dirty="0"/>
              <a:t> Alt+X   </a:t>
            </a:r>
            <a:r>
              <a:rPr lang="en-IN" sz="2000" dirty="0">
                <a:sym typeface="Wingdings"/>
              </a:rPr>
              <a:t></a:t>
            </a:r>
            <a:r>
              <a:rPr lang="en-IN" sz="2000" dirty="0"/>
              <a:t> Code2</a:t>
            </a:r>
            <a:endParaRPr lang="en-US" sz="2000" dirty="0"/>
          </a:p>
          <a:p>
            <a:pPr>
              <a:buFont typeface="Wingdings" pitchFamily="2" charset="2"/>
              <a:buChar char="Ø"/>
            </a:pPr>
            <a:r>
              <a:rPr lang="en-IN" sz="2000" dirty="0"/>
              <a:t> Alt+Y   </a:t>
            </a:r>
            <a:r>
              <a:rPr lang="en-IN" sz="2000" dirty="0">
                <a:sym typeface="Wingdings"/>
              </a:rPr>
              <a:t></a:t>
            </a:r>
            <a:r>
              <a:rPr lang="en-IN" sz="2000" dirty="0"/>
              <a:t> Code3</a:t>
            </a:r>
            <a:endParaRPr lang="en-US" sz="2000" dirty="0"/>
          </a:p>
          <a:p>
            <a:pPr>
              <a:buFont typeface="Wingdings" pitchFamily="2" charset="2"/>
              <a:buChar char="Ø"/>
            </a:pPr>
            <a:r>
              <a:rPr lang="en-IN" sz="2000" dirty="0"/>
              <a:t> Alt+Z   </a:t>
            </a:r>
            <a:r>
              <a:rPr lang="en-IN" sz="2000" dirty="0">
                <a:sym typeface="Wingdings"/>
              </a:rPr>
              <a:t></a:t>
            </a:r>
            <a:r>
              <a:rPr lang="en-IN" sz="2000" dirty="0"/>
              <a:t> Code4</a:t>
            </a:r>
            <a:endParaRPr lang="en-US" sz="2000" dirty="0"/>
          </a:p>
          <a:p>
            <a:pPr>
              <a:buFont typeface="Wingdings" pitchFamily="2" charset="2"/>
              <a:buChar char="Ø"/>
            </a:pPr>
            <a:r>
              <a:rPr lang="en-IN" sz="2000" dirty="0"/>
              <a:t> Alt+S   </a:t>
            </a:r>
            <a:r>
              <a:rPr lang="en-IN" sz="2000" dirty="0">
                <a:sym typeface="Wingdings"/>
              </a:rPr>
              <a:t></a:t>
            </a:r>
            <a:r>
              <a:rPr lang="en-IN" sz="2000" dirty="0"/>
              <a:t> Search</a:t>
            </a:r>
            <a:endParaRPr lang="en-US" sz="2000" dirty="0"/>
          </a:p>
          <a:p>
            <a:pPr>
              <a:buFont typeface="Wingdings" pitchFamily="2" charset="2"/>
              <a:buChar char="Ø"/>
            </a:pPr>
            <a:r>
              <a:rPr lang="en-IN" sz="2000" dirty="0"/>
              <a:t>Alt+C    </a:t>
            </a:r>
            <a:r>
              <a:rPr lang="en-IN" sz="2000" dirty="0">
                <a:sym typeface="Wingdings"/>
              </a:rPr>
              <a:t></a:t>
            </a:r>
            <a:r>
              <a:rPr lang="en-IN" sz="2000" dirty="0"/>
              <a:t> Clear</a:t>
            </a: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16</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1462790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7905"/>
          </a:xfrm>
        </p:spPr>
        <p:txBody>
          <a:bodyPr/>
          <a:lstStyle/>
          <a:p>
            <a:br>
              <a:rPr lang="en-IN" sz="3600" b="1" dirty="0"/>
            </a:br>
            <a:br>
              <a:rPr lang="en-IN" sz="3600" b="1" dirty="0"/>
            </a:br>
            <a:br>
              <a:rPr lang="en-IN" sz="3600" b="1" dirty="0"/>
            </a:br>
            <a:br>
              <a:rPr lang="en-IN" sz="3600" b="1" dirty="0"/>
            </a:br>
            <a:br>
              <a:rPr lang="en-IN" sz="3600" b="1" dirty="0"/>
            </a:br>
            <a:br>
              <a:rPr lang="en-US" sz="3600" dirty="0"/>
            </a:br>
            <a:br>
              <a:rPr lang="en-US" sz="3600" dirty="0"/>
            </a:br>
            <a:br>
              <a:rPr lang="en-US" sz="3600" dirty="0"/>
            </a:br>
            <a:br>
              <a:rPr lang="en-US" sz="3600" dirty="0"/>
            </a:br>
            <a:endParaRPr lang="en-US" sz="3600" dirty="0"/>
          </a:p>
        </p:txBody>
      </p:sp>
      <p:sp>
        <p:nvSpPr>
          <p:cNvPr id="3" name="Content Placeholder 2"/>
          <p:cNvSpPr>
            <a:spLocks noGrp="1"/>
          </p:cNvSpPr>
          <p:nvPr>
            <p:ph idx="1"/>
          </p:nvPr>
        </p:nvSpPr>
        <p:spPr>
          <a:xfrm>
            <a:off x="838200" y="411480"/>
            <a:ext cx="10515600" cy="5765483"/>
          </a:xfrm>
        </p:spPr>
        <p:txBody>
          <a:bodyPr/>
          <a:lstStyle/>
          <a:p>
            <a:pPr marL="0" indent="0">
              <a:buNone/>
            </a:pPr>
            <a:r>
              <a:rPr lang="en-IN" sz="2000" b="1" dirty="0"/>
              <a:t>List of Shortcut Keys to Access UNSPSC Searcher:</a:t>
            </a:r>
          </a:p>
          <a:p>
            <a:pPr marL="0" indent="0">
              <a:buNone/>
            </a:pPr>
            <a:endParaRPr lang="en-US" sz="2000" dirty="0"/>
          </a:p>
          <a:p>
            <a:pPr>
              <a:buFont typeface="Wingdings" pitchFamily="2" charset="2"/>
              <a:buChar char="Ø"/>
            </a:pPr>
            <a:r>
              <a:rPr lang="en-IN" sz="2000" dirty="0"/>
              <a:t>Alt + A   </a:t>
            </a:r>
            <a:r>
              <a:rPr lang="en-IN" sz="2000" dirty="0">
                <a:sym typeface="Wingdings"/>
              </a:rPr>
              <a:t></a:t>
            </a:r>
            <a:r>
              <a:rPr lang="en-IN" sz="2000" dirty="0"/>
              <a:t> AND</a:t>
            </a:r>
            <a:endParaRPr lang="en-US" sz="2000" dirty="0"/>
          </a:p>
          <a:p>
            <a:pPr>
              <a:buFont typeface="Wingdings" pitchFamily="2" charset="2"/>
              <a:buChar char="Ø"/>
            </a:pPr>
            <a:r>
              <a:rPr lang="en-IN" sz="2000" dirty="0"/>
              <a:t>Alt + O   </a:t>
            </a:r>
            <a:r>
              <a:rPr lang="en-IN" sz="2000" dirty="0">
                <a:sym typeface="Wingdings"/>
              </a:rPr>
              <a:t></a:t>
            </a:r>
            <a:r>
              <a:rPr lang="en-IN" sz="2000" dirty="0"/>
              <a:t> OR</a:t>
            </a:r>
            <a:endParaRPr lang="en-US" sz="2000" dirty="0"/>
          </a:p>
          <a:p>
            <a:pPr>
              <a:buFont typeface="Wingdings" pitchFamily="2" charset="2"/>
              <a:buChar char="Ø"/>
            </a:pPr>
            <a:r>
              <a:rPr lang="en-IN" sz="2000" dirty="0"/>
              <a:t>Alt + T    </a:t>
            </a:r>
            <a:r>
              <a:rPr lang="en-IN" sz="2000" dirty="0">
                <a:sym typeface="Wingdings"/>
              </a:rPr>
              <a:t></a:t>
            </a:r>
            <a:r>
              <a:rPr lang="en-IN" sz="2000" dirty="0"/>
              <a:t> Do Not Contain</a:t>
            </a:r>
            <a:endParaRPr lang="en-US" sz="2000" dirty="0"/>
          </a:p>
          <a:p>
            <a:pPr>
              <a:buFont typeface="Wingdings" pitchFamily="2" charset="2"/>
              <a:buChar char="Ø"/>
            </a:pPr>
            <a:r>
              <a:rPr lang="en-IN" sz="2000" dirty="0"/>
              <a:t>Alt + J    </a:t>
            </a:r>
            <a:r>
              <a:rPr lang="en-IN" sz="2000" dirty="0">
                <a:sym typeface="Wingdings"/>
              </a:rPr>
              <a:t></a:t>
            </a:r>
            <a:r>
              <a:rPr lang="en-IN" sz="2000" dirty="0"/>
              <a:t> Segment</a:t>
            </a:r>
            <a:endParaRPr lang="en-US" sz="2000" dirty="0"/>
          </a:p>
          <a:p>
            <a:pPr>
              <a:buFont typeface="Wingdings" pitchFamily="2" charset="2"/>
              <a:buChar char="Ø"/>
            </a:pPr>
            <a:r>
              <a:rPr lang="en-IN" sz="2000" dirty="0"/>
              <a:t>Alt + K   </a:t>
            </a:r>
            <a:r>
              <a:rPr lang="en-IN" sz="2000" dirty="0">
                <a:sym typeface="Wingdings"/>
              </a:rPr>
              <a:t></a:t>
            </a:r>
            <a:r>
              <a:rPr lang="en-IN" sz="2000" dirty="0"/>
              <a:t> Family</a:t>
            </a:r>
            <a:endParaRPr lang="en-US" sz="2000" dirty="0"/>
          </a:p>
          <a:p>
            <a:pPr>
              <a:buFont typeface="Wingdings" pitchFamily="2" charset="2"/>
              <a:buChar char="Ø"/>
            </a:pPr>
            <a:r>
              <a:rPr lang="en-IN" sz="2000" dirty="0"/>
              <a:t>Alt + M  </a:t>
            </a:r>
            <a:r>
              <a:rPr lang="en-IN" sz="2000" dirty="0">
                <a:sym typeface="Wingdings"/>
              </a:rPr>
              <a:t></a:t>
            </a:r>
            <a:r>
              <a:rPr lang="en-IN" sz="2000" dirty="0"/>
              <a:t> Class</a:t>
            </a:r>
            <a:endParaRPr lang="en-US" sz="2000" dirty="0"/>
          </a:p>
          <a:p>
            <a:pPr>
              <a:buFont typeface="Wingdings" pitchFamily="2" charset="2"/>
              <a:buChar char="Ø"/>
            </a:pPr>
            <a:r>
              <a:rPr lang="en-IN" sz="2000" dirty="0"/>
              <a:t>Alt + N   </a:t>
            </a:r>
            <a:r>
              <a:rPr lang="en-IN" sz="2000" dirty="0">
                <a:sym typeface="Wingdings"/>
              </a:rPr>
              <a:t></a:t>
            </a:r>
            <a:r>
              <a:rPr lang="en-IN" sz="2000" dirty="0"/>
              <a:t> Commodity</a:t>
            </a:r>
            <a:endParaRPr lang="en-US" sz="2000" dirty="0"/>
          </a:p>
          <a:p>
            <a:pPr>
              <a:buFont typeface="Wingdings" pitchFamily="2" charset="2"/>
              <a:buChar char="Ø"/>
            </a:pPr>
            <a:r>
              <a:rPr lang="en-IN" sz="2000" dirty="0"/>
              <a:t>Alt + P   </a:t>
            </a:r>
            <a:r>
              <a:rPr lang="en-IN" sz="2000" dirty="0">
                <a:sym typeface="Wingdings"/>
              </a:rPr>
              <a:t></a:t>
            </a:r>
            <a:r>
              <a:rPr lang="en-IN" sz="2000" dirty="0"/>
              <a:t> Code Category</a:t>
            </a:r>
            <a:endParaRPr lang="en-US" sz="2000" dirty="0"/>
          </a:p>
          <a:p>
            <a:pPr>
              <a:buFont typeface="Wingdings" pitchFamily="2" charset="2"/>
              <a:buChar char="Ø"/>
            </a:pPr>
            <a:r>
              <a:rPr lang="en-IN" sz="2000" dirty="0"/>
              <a:t>Alt + Q   </a:t>
            </a:r>
            <a:r>
              <a:rPr lang="en-IN" sz="2000" dirty="0">
                <a:sym typeface="Wingdings"/>
              </a:rPr>
              <a:t></a:t>
            </a:r>
            <a:r>
              <a:rPr lang="en-IN" sz="2000" dirty="0"/>
              <a:t> Code</a:t>
            </a:r>
            <a:endParaRPr lang="en-US" sz="2000" dirty="0"/>
          </a:p>
          <a:p>
            <a:pPr>
              <a:buFont typeface="Wingdings" pitchFamily="2" charset="2"/>
              <a:buChar char="Ø"/>
            </a:pPr>
            <a:r>
              <a:rPr lang="en-IN" sz="2000" dirty="0"/>
              <a:t>Alt + G    </a:t>
            </a:r>
            <a:r>
              <a:rPr lang="en-IN" sz="2000" dirty="0">
                <a:sym typeface="Wingdings"/>
              </a:rPr>
              <a:t></a:t>
            </a:r>
            <a:r>
              <a:rPr lang="en-IN" sz="2000" dirty="0"/>
              <a:t> Category</a:t>
            </a: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fld id="{F58C37F9-B7F0-43C8-8C5E-49BB0F860D62}" type="slidenum">
              <a:rPr lang="en-IN" smtClean="0"/>
              <a:pPr/>
              <a:t>17</a:t>
            </a:fld>
            <a:endParaRPr lang="en-IN" dirty="0"/>
          </a:p>
        </p:txBody>
      </p:sp>
      <p:sp>
        <p:nvSpPr>
          <p:cNvPr id="5" name="Footer Placeholder 4"/>
          <p:cNvSpPr>
            <a:spLocks noGrp="1"/>
          </p:cNvSpPr>
          <p:nvPr>
            <p:ph type="ftr" sz="quarter" idx="11"/>
          </p:nvPr>
        </p:nvSpPr>
        <p:spPr/>
        <p:txBody>
          <a:bodyPr/>
          <a:lstStyle/>
          <a:p>
            <a:pPr>
              <a:defRPr/>
            </a:pPr>
            <a:r>
              <a:rPr lang="en-IN" dirty="0"/>
              <a:t>Griha Software Technologies Pvt. Ltd.</a:t>
            </a:r>
          </a:p>
        </p:txBody>
      </p:sp>
    </p:spTree>
    <p:extLst>
      <p:ext uri="{BB962C8B-B14F-4D97-AF65-F5344CB8AC3E}">
        <p14:creationId xmlns:p14="http://schemas.microsoft.com/office/powerpoint/2010/main" val="1270264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IN"/>
              <a:t>Griha Software Technologies Pvt. Ltd.</a:t>
            </a:r>
            <a:endParaRPr lang="en-IN" dirty="0"/>
          </a:p>
        </p:txBody>
      </p:sp>
      <p:sp>
        <p:nvSpPr>
          <p:cNvPr id="5" name="Slide Number Placeholder 4"/>
          <p:cNvSpPr>
            <a:spLocks noGrp="1"/>
          </p:cNvSpPr>
          <p:nvPr>
            <p:ph type="sldNum" sz="quarter" idx="12"/>
          </p:nvPr>
        </p:nvSpPr>
        <p:spPr/>
        <p:txBody>
          <a:bodyPr/>
          <a:lstStyle/>
          <a:p>
            <a:fld id="{F58C37F9-B7F0-43C8-8C5E-49BB0F860D62}" type="slidenum">
              <a:rPr lang="en-IN" smtClean="0"/>
              <a:pPr/>
              <a:t>18</a:t>
            </a:fld>
            <a:endParaRPr lang="en-IN" dirty="0"/>
          </a:p>
        </p:txBody>
      </p:sp>
      <p:sp>
        <p:nvSpPr>
          <p:cNvPr id="6" name="Title 1"/>
          <p:cNvSpPr txBox="1">
            <a:spLocks/>
          </p:cNvSpPr>
          <p:nvPr/>
        </p:nvSpPr>
        <p:spPr bwMode="auto">
          <a:xfrm>
            <a:off x="655320" y="365125"/>
            <a:ext cx="3882390" cy="92646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a:lstStyle>
          <a:p>
            <a:pPr eaLnBrk="1" hangingPunct="1"/>
            <a:r>
              <a:rPr lang="en-GB" sz="2000" b="1" dirty="0"/>
              <a:t>Upload New Version - UNSPSC</a:t>
            </a: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437" y="1108710"/>
            <a:ext cx="6484174" cy="43350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2"/>
          <p:cNvSpPr>
            <a:spLocks noGrp="1"/>
          </p:cNvSpPr>
          <p:nvPr>
            <p:ph idx="1"/>
          </p:nvPr>
        </p:nvSpPr>
        <p:spPr>
          <a:xfrm>
            <a:off x="7357110" y="833754"/>
            <a:ext cx="4130040" cy="5109846"/>
          </a:xfrm>
        </p:spPr>
        <p:txBody>
          <a:bodyPr/>
          <a:lstStyle/>
          <a:p>
            <a:r>
              <a:rPr lang="en-IN" sz="2000" dirty="0"/>
              <a:t>This menu will be available for managers and application administrator.</a:t>
            </a:r>
          </a:p>
          <a:p>
            <a:r>
              <a:rPr lang="en-IN" sz="2000" dirty="0"/>
              <a:t>Click on ‘Upload New Version’ menu option on left hand side of application.</a:t>
            </a: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601797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96595"/>
            <a:ext cx="5082540" cy="926465"/>
          </a:xfrm>
        </p:spPr>
        <p:txBody>
          <a:bodyPr/>
          <a:lstStyle/>
          <a:p>
            <a:r>
              <a:rPr lang="en-GB" sz="2000" b="1" dirty="0"/>
              <a:t>Upload New Version - UNSPSC</a:t>
            </a:r>
            <a:endParaRPr lang="en-IN" sz="2000" dirty="0"/>
          </a:p>
        </p:txBody>
      </p:sp>
      <p:sp>
        <p:nvSpPr>
          <p:cNvPr id="3" name="Content Placeholder 2"/>
          <p:cNvSpPr>
            <a:spLocks noGrp="1"/>
          </p:cNvSpPr>
          <p:nvPr>
            <p:ph idx="1"/>
          </p:nvPr>
        </p:nvSpPr>
        <p:spPr>
          <a:xfrm>
            <a:off x="6915150" y="1825625"/>
            <a:ext cx="4438650" cy="4351338"/>
          </a:xfrm>
        </p:spPr>
        <p:txBody>
          <a:bodyPr/>
          <a:lstStyle/>
          <a:p>
            <a:r>
              <a:rPr lang="en-IN" sz="2000" dirty="0"/>
              <a:t>After clicking ‘Upload New Version’ menu option of UNSPSC, application opens a new page. Please read the ‘Notes’ in the page to upload the data successfully.</a:t>
            </a:r>
          </a:p>
          <a:p>
            <a:r>
              <a:rPr lang="en-IN" sz="2000" dirty="0"/>
              <a:t>Download the input file data template by clicking on ‘Download Template’ hyperlink. Application downloads the template in excel format.</a:t>
            </a:r>
          </a:p>
          <a:p>
            <a:r>
              <a:rPr lang="en-IN" sz="2000" dirty="0"/>
              <a:t>Prepare the data in this format of template.</a:t>
            </a:r>
          </a:p>
          <a:p>
            <a:r>
              <a:rPr lang="en-IN" sz="2000" dirty="0"/>
              <a:t>Enter Version No. and check ‘Is Latest Version’ checkbox if you are uploading latest version else check it OFF</a:t>
            </a:r>
          </a:p>
        </p:txBody>
      </p:sp>
      <p:sp>
        <p:nvSpPr>
          <p:cNvPr id="4" name="Footer Placeholder 3"/>
          <p:cNvSpPr>
            <a:spLocks noGrp="1"/>
          </p:cNvSpPr>
          <p:nvPr>
            <p:ph type="ftr" sz="quarter" idx="11"/>
          </p:nvPr>
        </p:nvSpPr>
        <p:spPr/>
        <p:txBody>
          <a:bodyPr/>
          <a:lstStyle/>
          <a:p>
            <a:pPr>
              <a:defRPr/>
            </a:pPr>
            <a:r>
              <a:rPr lang="en-IN"/>
              <a:t>Griha Software Technologies Pvt. Ltd.</a:t>
            </a:r>
            <a:endParaRPr lang="en-IN" dirty="0"/>
          </a:p>
        </p:txBody>
      </p:sp>
      <p:sp>
        <p:nvSpPr>
          <p:cNvPr id="5" name="Slide Number Placeholder 4"/>
          <p:cNvSpPr>
            <a:spLocks noGrp="1"/>
          </p:cNvSpPr>
          <p:nvPr>
            <p:ph type="sldNum" sz="quarter" idx="12"/>
          </p:nvPr>
        </p:nvSpPr>
        <p:spPr/>
        <p:txBody>
          <a:bodyPr/>
          <a:lstStyle/>
          <a:p>
            <a:fld id="{F58C37F9-B7F0-43C8-8C5E-49BB0F860D62}" type="slidenum">
              <a:rPr lang="en-IN" smtClean="0"/>
              <a:pPr/>
              <a:t>19</a:t>
            </a:fld>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 y="1768152"/>
            <a:ext cx="6012180" cy="4484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77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96595"/>
            <a:ext cx="5082540" cy="926465"/>
          </a:xfrm>
        </p:spPr>
        <p:txBody>
          <a:bodyPr/>
          <a:lstStyle/>
          <a:p>
            <a:r>
              <a:rPr lang="en-GB" sz="2000" b="1" dirty="0"/>
              <a:t>Upload New Version - UNSPSC</a:t>
            </a:r>
            <a:endParaRPr lang="en-IN" sz="2000" dirty="0"/>
          </a:p>
        </p:txBody>
      </p:sp>
      <p:sp>
        <p:nvSpPr>
          <p:cNvPr id="3" name="Content Placeholder 2"/>
          <p:cNvSpPr>
            <a:spLocks noGrp="1"/>
          </p:cNvSpPr>
          <p:nvPr>
            <p:ph idx="1"/>
          </p:nvPr>
        </p:nvSpPr>
        <p:spPr>
          <a:xfrm>
            <a:off x="6915150" y="1825625"/>
            <a:ext cx="4438650" cy="4351338"/>
          </a:xfrm>
        </p:spPr>
        <p:txBody>
          <a:bodyPr/>
          <a:lstStyle/>
          <a:p>
            <a:r>
              <a:rPr lang="en-IN" sz="2000" dirty="0"/>
              <a:t>Click on ‘Validate Input File and Upload’ button, to check the input file for errors and upload it to the server.</a:t>
            </a:r>
          </a:p>
          <a:p>
            <a:r>
              <a:rPr lang="en-IN" sz="2000" dirty="0"/>
              <a:t>This step will take some time until the data is uploaded successfully to the server. Application shows the message after successful upload.</a:t>
            </a:r>
          </a:p>
          <a:p>
            <a:r>
              <a:rPr lang="en-IN" sz="2000" dirty="0"/>
              <a:t>Click on ‘Show All Updates’ button to show all ‘UNSPSC active versions’ uploaded till date</a:t>
            </a:r>
          </a:p>
        </p:txBody>
      </p:sp>
      <p:sp>
        <p:nvSpPr>
          <p:cNvPr id="4" name="Footer Placeholder 3"/>
          <p:cNvSpPr>
            <a:spLocks noGrp="1"/>
          </p:cNvSpPr>
          <p:nvPr>
            <p:ph type="ftr" sz="quarter" idx="11"/>
          </p:nvPr>
        </p:nvSpPr>
        <p:spPr/>
        <p:txBody>
          <a:bodyPr/>
          <a:lstStyle/>
          <a:p>
            <a:pPr>
              <a:defRPr/>
            </a:pPr>
            <a:r>
              <a:rPr lang="en-IN"/>
              <a:t>Griha Software Technologies Pvt. Ltd.</a:t>
            </a:r>
            <a:endParaRPr lang="en-IN" dirty="0"/>
          </a:p>
        </p:txBody>
      </p:sp>
      <p:sp>
        <p:nvSpPr>
          <p:cNvPr id="5" name="Slide Number Placeholder 4"/>
          <p:cNvSpPr>
            <a:spLocks noGrp="1"/>
          </p:cNvSpPr>
          <p:nvPr>
            <p:ph type="sldNum" sz="quarter" idx="12"/>
          </p:nvPr>
        </p:nvSpPr>
        <p:spPr/>
        <p:txBody>
          <a:bodyPr/>
          <a:lstStyle/>
          <a:p>
            <a:fld id="{F58C37F9-B7F0-43C8-8C5E-49BB0F860D62}" type="slidenum">
              <a:rPr lang="en-IN" smtClean="0"/>
              <a:pPr/>
              <a:t>20</a:t>
            </a:fld>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960" y="1768152"/>
            <a:ext cx="6012180" cy="4484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2662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1349</TotalTime>
  <Words>1393</Words>
  <Application>Microsoft Office PowerPoint</Application>
  <PresentationFormat>Widescreen</PresentationFormat>
  <Paragraphs>155</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Wingdings</vt:lpstr>
      <vt:lpstr>Office Theme</vt:lpstr>
      <vt:lpstr>User Guide</vt:lpstr>
      <vt:lpstr> What is UNSPSC? </vt:lpstr>
      <vt:lpstr>Define: Open Standard?</vt:lpstr>
      <vt:lpstr>Define: Taxonomy?</vt:lpstr>
      <vt:lpstr>UNSPSC Design:</vt:lpstr>
      <vt:lpstr>UNSPSC Components:</vt:lpstr>
      <vt:lpstr> UNSPSC Code Structure: </vt:lpstr>
      <vt:lpstr>  UNSPSC Segments:  </vt:lpstr>
      <vt:lpstr>   How to Implement UNSPSC?   </vt:lpstr>
      <vt:lpstr>    Advantages of UNSPSC:    </vt:lpstr>
      <vt:lpstr>     How to Use UNSPSC Searcher?     </vt:lpstr>
      <vt:lpstr>         </vt:lpstr>
      <vt:lpstr>         </vt:lpstr>
      <vt:lpstr>         </vt:lpstr>
      <vt:lpstr>         </vt:lpstr>
      <vt:lpstr>         </vt:lpstr>
      <vt:lpstr>         </vt:lpstr>
      <vt:lpstr>PowerPoint Presentation</vt:lpstr>
      <vt:lpstr>Upload New Version - UNSPSC</vt:lpstr>
      <vt:lpstr>Upload New Version - UNSPSC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dc:title>
  <dc:creator>Rajasimhan Namadevan</dc:creator>
  <cp:lastModifiedBy>Vinod R Chougule</cp:lastModifiedBy>
  <cp:revision>144</cp:revision>
  <dcterms:created xsi:type="dcterms:W3CDTF">2014-06-05T12:16:43Z</dcterms:created>
  <dcterms:modified xsi:type="dcterms:W3CDTF">2023-11-22T06:22:10Z</dcterms:modified>
</cp:coreProperties>
</file>