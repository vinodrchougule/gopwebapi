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6" r:id="rId4"/>
    <p:sldId id="267" r:id="rId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itchFamily="34" charset="0"/>
        <a:ea typeface="+mn-ea"/>
        <a:cs typeface="+mn-cs"/>
      </a:defRPr>
    </a:lvl5pPr>
    <a:lvl6pPr marL="2286000" algn="l" defTabSz="914400" rtl="0" eaLnBrk="1" latinLnBrk="0" hangingPunct="1">
      <a:defRPr kern="1200">
        <a:solidFill>
          <a:schemeClr val="tx1"/>
        </a:solidFill>
        <a:latin typeface="Calibri" pitchFamily="34" charset="0"/>
        <a:ea typeface="+mn-ea"/>
        <a:cs typeface="+mn-cs"/>
      </a:defRPr>
    </a:lvl6pPr>
    <a:lvl7pPr marL="2743200" algn="l" defTabSz="914400" rtl="0" eaLnBrk="1" latinLnBrk="0" hangingPunct="1">
      <a:defRPr kern="1200">
        <a:solidFill>
          <a:schemeClr val="tx1"/>
        </a:solidFill>
        <a:latin typeface="Calibri" pitchFamily="34" charset="0"/>
        <a:ea typeface="+mn-ea"/>
        <a:cs typeface="+mn-cs"/>
      </a:defRPr>
    </a:lvl7pPr>
    <a:lvl8pPr marL="3200400" algn="l" defTabSz="914400" rtl="0" eaLnBrk="1" latinLnBrk="0" hangingPunct="1">
      <a:defRPr kern="1200">
        <a:solidFill>
          <a:schemeClr val="tx1"/>
        </a:solidFill>
        <a:latin typeface="Calibri" pitchFamily="34" charset="0"/>
        <a:ea typeface="+mn-ea"/>
        <a:cs typeface="+mn-cs"/>
      </a:defRPr>
    </a:lvl8pPr>
    <a:lvl9pPr marL="3657600" algn="l" defTabSz="914400" rtl="0" eaLnBrk="1" latinLnBrk="0" hangingPunct="1">
      <a:defRPr kern="1200">
        <a:solidFill>
          <a:schemeClr val="tx1"/>
        </a:solidFill>
        <a:latin typeface="Calibri"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lvl1pPr>
              <a:defRPr/>
            </a:lvl1pPr>
          </a:lstStyle>
          <a:p>
            <a:pPr>
              <a:defRPr/>
            </a:pPr>
            <a:fld id="{E1573D0E-A16C-4817-B1FF-942D70CAE1CA}" type="datetimeFigureOut">
              <a:rPr lang="en-IN"/>
              <a:pPr>
                <a:defRPr/>
              </a:pPr>
              <a:t>23-09-2025</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fld id="{472EC9C8-89D8-4861-810C-5B04966122EF}" type="slidenum">
              <a:rPr lang="en-IN"/>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007B0DBF-AA53-49D4-A9D9-A566B9A909BB}" type="datetimeFigureOut">
              <a:rPr lang="en-IN"/>
              <a:pPr>
                <a:defRPr/>
              </a:pPr>
              <a:t>23-09-2025</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fld id="{F58C37F9-B7F0-43C8-8C5E-49BB0F860D62}" type="slidenum">
              <a:rPr lang="en-IN"/>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B937B227-474B-4EB9-B6B0-8C11844FE2CB}" type="datetimeFigureOut">
              <a:rPr lang="en-IN"/>
              <a:pPr>
                <a:defRPr/>
              </a:pPr>
              <a:t>23-09-2025</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fld id="{4728C7B7-1056-425B-ADFF-D776953A4164}" type="slidenum">
              <a:rPr lang="en-IN"/>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p:cNvSpPr>
            <a:spLocks noGrp="1"/>
          </p:cNvSpPr>
          <p:nvPr>
            <p:ph type="dt" sz="half" idx="10"/>
          </p:nvPr>
        </p:nvSpPr>
        <p:spPr/>
        <p:txBody>
          <a:bodyPr/>
          <a:lstStyle>
            <a:lvl1pPr>
              <a:defRPr/>
            </a:lvl1pPr>
          </a:lstStyle>
          <a:p>
            <a:pPr>
              <a:defRPr/>
            </a:pPr>
            <a:fld id="{E56092B9-DF03-483F-AB9A-35FE3766F3A0}" type="datetimeFigureOut">
              <a:rPr lang="en-IN"/>
              <a:pPr>
                <a:defRPr/>
              </a:pPr>
              <a:t>23-09-2025</a:t>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fld id="{6F8AD595-F121-42D4-AC66-477E0EBAE420}" type="slidenum">
              <a:rPr lang="en-IN"/>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p:cNvSpPr>
            <a:spLocks noGrp="1"/>
          </p:cNvSpPr>
          <p:nvPr>
            <p:ph type="dt" sz="half" idx="10"/>
          </p:nvPr>
        </p:nvSpPr>
        <p:spPr/>
        <p:txBody>
          <a:bodyPr/>
          <a:lstStyle>
            <a:lvl1pPr>
              <a:defRPr/>
            </a:lvl1pPr>
          </a:lstStyle>
          <a:p>
            <a:pPr>
              <a:defRPr/>
            </a:pPr>
            <a:fld id="{C883CED6-F7EB-4C6A-9A9A-8B19287D8D80}" type="datetimeFigureOut">
              <a:rPr lang="en-IN"/>
              <a:pPr>
                <a:defRPr/>
              </a:pPr>
              <a:t>23-09-2025</a:t>
            </a:fld>
            <a:endParaRPr lang="en-IN"/>
          </a:p>
        </p:txBody>
      </p:sp>
      <p:sp>
        <p:nvSpPr>
          <p:cNvPr id="8" name="Footer Placeholder 4"/>
          <p:cNvSpPr>
            <a:spLocks noGrp="1"/>
          </p:cNvSpPr>
          <p:nvPr>
            <p:ph type="ftr" sz="quarter" idx="11"/>
          </p:nvPr>
        </p:nvSpPr>
        <p:spPr/>
        <p:txBody>
          <a:bodyPr/>
          <a:lstStyle>
            <a:lvl1pPr>
              <a:defRPr/>
            </a:lvl1pPr>
          </a:lstStyle>
          <a:p>
            <a:pPr>
              <a:defRPr/>
            </a:pPr>
            <a:endParaRPr lang="en-IN"/>
          </a:p>
        </p:txBody>
      </p:sp>
      <p:sp>
        <p:nvSpPr>
          <p:cNvPr id="9" name="Slide Number Placeholder 5"/>
          <p:cNvSpPr>
            <a:spLocks noGrp="1"/>
          </p:cNvSpPr>
          <p:nvPr>
            <p:ph type="sldNum" sz="quarter" idx="12"/>
          </p:nvPr>
        </p:nvSpPr>
        <p:spPr/>
        <p:txBody>
          <a:bodyPr/>
          <a:lstStyle>
            <a:lvl1pPr>
              <a:defRPr/>
            </a:lvl1pPr>
          </a:lstStyle>
          <a:p>
            <a:fld id="{17904BF4-A4F8-4059-9A83-C1D5EAAC1040}" type="slidenum">
              <a:rPr lang="en-IN"/>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p:cNvSpPr>
            <a:spLocks noGrp="1"/>
          </p:cNvSpPr>
          <p:nvPr>
            <p:ph type="dt" sz="half" idx="10"/>
          </p:nvPr>
        </p:nvSpPr>
        <p:spPr/>
        <p:txBody>
          <a:bodyPr/>
          <a:lstStyle>
            <a:lvl1pPr>
              <a:defRPr/>
            </a:lvl1pPr>
          </a:lstStyle>
          <a:p>
            <a:pPr>
              <a:defRPr/>
            </a:pPr>
            <a:fld id="{3A5A3D99-3020-4B1C-B1AC-50457DA192F0}" type="datetimeFigureOut">
              <a:rPr lang="en-IN"/>
              <a:pPr>
                <a:defRPr/>
              </a:pPr>
              <a:t>23-09-2025</a:t>
            </a:fld>
            <a:endParaRPr lang="en-IN"/>
          </a:p>
        </p:txBody>
      </p:sp>
      <p:sp>
        <p:nvSpPr>
          <p:cNvPr id="4" name="Footer Placeholder 4"/>
          <p:cNvSpPr>
            <a:spLocks noGrp="1"/>
          </p:cNvSpPr>
          <p:nvPr>
            <p:ph type="ftr" sz="quarter" idx="11"/>
          </p:nvPr>
        </p:nvSpPr>
        <p:spPr/>
        <p:txBody>
          <a:bodyPr/>
          <a:lstStyle>
            <a:lvl1pPr>
              <a:defRPr/>
            </a:lvl1pPr>
          </a:lstStyle>
          <a:p>
            <a:pPr>
              <a:defRPr/>
            </a:pPr>
            <a:endParaRPr lang="en-IN"/>
          </a:p>
        </p:txBody>
      </p:sp>
      <p:sp>
        <p:nvSpPr>
          <p:cNvPr id="5" name="Slide Number Placeholder 5"/>
          <p:cNvSpPr>
            <a:spLocks noGrp="1"/>
          </p:cNvSpPr>
          <p:nvPr>
            <p:ph type="sldNum" sz="quarter" idx="12"/>
          </p:nvPr>
        </p:nvSpPr>
        <p:spPr/>
        <p:txBody>
          <a:bodyPr/>
          <a:lstStyle>
            <a:lvl1pPr>
              <a:defRPr/>
            </a:lvl1pPr>
          </a:lstStyle>
          <a:p>
            <a:fld id="{C7BCB979-E05B-42A5-BA39-E536DCC1D028}" type="slidenum">
              <a:rPr lang="en-IN"/>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9F72F48-D3C9-4675-8225-73DADDD9C508}" type="datetimeFigureOut">
              <a:rPr lang="en-IN"/>
              <a:pPr>
                <a:defRPr/>
              </a:pPr>
              <a:t>23-09-2025</a:t>
            </a:fld>
            <a:endParaRPr lang="en-IN"/>
          </a:p>
        </p:txBody>
      </p:sp>
      <p:sp>
        <p:nvSpPr>
          <p:cNvPr id="3" name="Footer Placeholder 4"/>
          <p:cNvSpPr>
            <a:spLocks noGrp="1"/>
          </p:cNvSpPr>
          <p:nvPr>
            <p:ph type="ftr" sz="quarter" idx="11"/>
          </p:nvPr>
        </p:nvSpPr>
        <p:spPr/>
        <p:txBody>
          <a:bodyPr/>
          <a:lstStyle>
            <a:lvl1pPr>
              <a:defRPr/>
            </a:lvl1pPr>
          </a:lstStyle>
          <a:p>
            <a:pPr>
              <a:defRPr/>
            </a:pPr>
            <a:endParaRPr lang="en-IN"/>
          </a:p>
        </p:txBody>
      </p:sp>
      <p:sp>
        <p:nvSpPr>
          <p:cNvPr id="4" name="Slide Number Placeholder 5"/>
          <p:cNvSpPr>
            <a:spLocks noGrp="1"/>
          </p:cNvSpPr>
          <p:nvPr>
            <p:ph type="sldNum" sz="quarter" idx="12"/>
          </p:nvPr>
        </p:nvSpPr>
        <p:spPr/>
        <p:txBody>
          <a:bodyPr/>
          <a:lstStyle>
            <a:lvl1pPr>
              <a:defRPr/>
            </a:lvl1pPr>
          </a:lstStyle>
          <a:p>
            <a:fld id="{4CB26868-D98B-495B-9716-2850EE113E99}" type="slidenum">
              <a:rPr lang="en-IN"/>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A746FA1-9289-4592-974A-3BAD68478C19}" type="datetimeFigureOut">
              <a:rPr lang="en-IN"/>
              <a:pPr>
                <a:defRPr/>
              </a:pPr>
              <a:t>23-09-2025</a:t>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fld id="{C6A89833-E92D-41FE-AF4A-EF76727E68E2}" type="slidenum">
              <a:rPr lang="en-IN"/>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1DA4700-486C-4BFE-8D12-5DA58D177529}" type="datetimeFigureOut">
              <a:rPr lang="en-IN"/>
              <a:pPr>
                <a:defRPr/>
              </a:pPr>
              <a:t>23-09-2025</a:t>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fld id="{2658735E-EAFB-4F10-AC3A-EE8BA6F8FA9B}" type="slidenum">
              <a:rPr lang="en-IN"/>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3236BDC8-8489-467B-B477-D6573C840CE6}" type="datetimeFigureOut">
              <a:rPr lang="en-IN"/>
              <a:pPr>
                <a:defRPr/>
              </a:pPr>
              <a:t>23-09-2025</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fld id="{F008D67F-1FAA-4426-AA7B-86B39A22FF1D}" type="slidenum">
              <a:rPr lang="en-IN"/>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F28AF90F-0007-4563-92CC-FCCE514C86A0}" type="datetimeFigureOut">
              <a:rPr lang="en-IN"/>
              <a:pPr>
                <a:defRPr/>
              </a:pPr>
              <a:t>23-09-2025</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fld id="{ACD1D8C7-1DBC-4966-BF0E-CDBECF06F926}" type="slidenum">
              <a:rPr lang="en-IN"/>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endParaRPr lang="en-IN"/>
          </a:p>
        </p:txBody>
      </p:sp>
      <p:sp>
        <p:nvSpPr>
          <p:cNvPr id="1027" name="Text Placeholder 2"/>
          <p:cNvSpPr>
            <a:spLocks noGrp="1"/>
          </p:cNvSpPr>
          <p:nvPr>
            <p:ph type="body" idx="1"/>
          </p:nvPr>
        </p:nvSpPr>
        <p:spPr bwMode="auto">
          <a:xfrm>
            <a:off x="838200" y="1825625"/>
            <a:ext cx="10515600"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44890F59-98B3-4C32-8FF4-D92BE6AB2C46}" type="datetimeFigureOut">
              <a:rPr lang="en-IN"/>
              <a:pPr>
                <a:defRPr/>
              </a:pPr>
              <a:t>23-09-2025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smtClean="0">
                <a:solidFill>
                  <a:schemeClr val="tx1">
                    <a:tint val="75000"/>
                  </a:schemeClr>
                </a:solidFill>
                <a:latin typeface="+mn-lt"/>
              </a:defRPr>
            </a:lvl1pPr>
          </a:lstStyle>
          <a:p>
            <a:pPr>
              <a:defRPr/>
            </a:pP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EB0711D7-048C-4107-A28A-C2FC74E44461}" type="slidenum">
              <a:rPr lang="en-IN"/>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defRPr>
      </a:lvl2pPr>
      <a:lvl3pPr algn="l" rtl="0" fontAlgn="base">
        <a:lnSpc>
          <a:spcPct val="90000"/>
        </a:lnSpc>
        <a:spcBef>
          <a:spcPct val="0"/>
        </a:spcBef>
        <a:spcAft>
          <a:spcPct val="0"/>
        </a:spcAft>
        <a:defRPr sz="4400">
          <a:solidFill>
            <a:schemeClr val="tx1"/>
          </a:solidFill>
          <a:latin typeface="Calibri Light" pitchFamily="34" charset="0"/>
        </a:defRPr>
      </a:lvl3pPr>
      <a:lvl4pPr algn="l" rtl="0" fontAlgn="base">
        <a:lnSpc>
          <a:spcPct val="90000"/>
        </a:lnSpc>
        <a:spcBef>
          <a:spcPct val="0"/>
        </a:spcBef>
        <a:spcAft>
          <a:spcPct val="0"/>
        </a:spcAft>
        <a:defRPr sz="4400">
          <a:solidFill>
            <a:schemeClr val="tx1"/>
          </a:solidFill>
          <a:latin typeface="Calibri Light" pitchFamily="34" charset="0"/>
        </a:defRPr>
      </a:lvl4pPr>
      <a:lvl5pPr algn="l" rtl="0" fontAlgn="base">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fontAlgn="base">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op.grihasoft.com/"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r>
              <a:rPr lang="en-IN" dirty="0"/>
              <a:t>User Guide</a:t>
            </a:r>
          </a:p>
        </p:txBody>
      </p:sp>
      <p:sp>
        <p:nvSpPr>
          <p:cNvPr id="2051" name="Subtitle 2"/>
          <p:cNvSpPr>
            <a:spLocks noGrp="1"/>
          </p:cNvSpPr>
          <p:nvPr>
            <p:ph type="subTitle" idx="1"/>
          </p:nvPr>
        </p:nvSpPr>
        <p:spPr/>
        <p:txBody>
          <a:bodyPr/>
          <a:lstStyle/>
          <a:p>
            <a:r>
              <a:rPr lang="en-IN" dirty="0"/>
              <a:t>GOP - Grihasoft Automation Tool – Dictionary Check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Content Placeholder 3"/>
          <p:cNvSpPr>
            <a:spLocks noGrp="1"/>
          </p:cNvSpPr>
          <p:nvPr>
            <p:ph sz="half" idx="2"/>
          </p:nvPr>
        </p:nvSpPr>
        <p:spPr>
          <a:xfrm>
            <a:off x="6286501" y="1463040"/>
            <a:ext cx="5181600" cy="4606290"/>
          </a:xfrm>
        </p:spPr>
        <p:txBody>
          <a:bodyPr/>
          <a:lstStyle/>
          <a:p>
            <a:r>
              <a:rPr lang="en-IN" sz="2400" dirty="0"/>
              <a:t>The ‘Dictionary Check’ tool is developed to check the input file with dictionary.</a:t>
            </a:r>
          </a:p>
          <a:p>
            <a:r>
              <a:rPr lang="en-IN" sz="2400" dirty="0"/>
              <a:t>Open GOP application by following the link </a:t>
            </a:r>
            <a:r>
              <a:rPr lang="en-IN" sz="2400" dirty="0">
                <a:hlinkClick r:id="rId2"/>
              </a:rPr>
              <a:t>https://gop.Grihasoft.com</a:t>
            </a:r>
            <a:endParaRPr lang="en-IN" sz="2400" dirty="0"/>
          </a:p>
          <a:p>
            <a:r>
              <a:rPr lang="en-IN" sz="2400" dirty="0"/>
              <a:t>Click on GAT main menu and select ‘Dictionary Check’ tab of GAT module</a:t>
            </a:r>
            <a:endParaRPr lang="en-IN" dirty="0"/>
          </a:p>
          <a:p>
            <a:pPr marL="457200" lvl="1" indent="0">
              <a:buNone/>
            </a:pPr>
            <a:endParaRPr lang="en-IN" dirty="0"/>
          </a:p>
          <a:p>
            <a:pPr marL="0" indent="0">
              <a:buNone/>
            </a:pPr>
            <a:endParaRPr lang="en-IN" sz="2400" dirty="0"/>
          </a:p>
        </p:txBody>
      </p:sp>
      <p:sp>
        <p:nvSpPr>
          <p:cNvPr id="8" name="Title 1"/>
          <p:cNvSpPr txBox="1">
            <a:spLocks/>
          </p:cNvSpPr>
          <p:nvPr/>
        </p:nvSpPr>
        <p:spPr bwMode="auto">
          <a:xfrm>
            <a:off x="541020" y="296544"/>
            <a:ext cx="5886673" cy="101790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defRPr>
            </a:lvl2pPr>
            <a:lvl3pPr algn="l" rtl="0" fontAlgn="base">
              <a:lnSpc>
                <a:spcPct val="90000"/>
              </a:lnSpc>
              <a:spcBef>
                <a:spcPct val="0"/>
              </a:spcBef>
              <a:spcAft>
                <a:spcPct val="0"/>
              </a:spcAft>
              <a:defRPr sz="4400">
                <a:solidFill>
                  <a:schemeClr val="tx1"/>
                </a:solidFill>
                <a:latin typeface="Calibri Light" pitchFamily="34" charset="0"/>
              </a:defRPr>
            </a:lvl3pPr>
            <a:lvl4pPr algn="l" rtl="0" fontAlgn="base">
              <a:lnSpc>
                <a:spcPct val="90000"/>
              </a:lnSpc>
              <a:spcBef>
                <a:spcPct val="0"/>
              </a:spcBef>
              <a:spcAft>
                <a:spcPct val="0"/>
              </a:spcAft>
              <a:defRPr sz="4400">
                <a:solidFill>
                  <a:schemeClr val="tx1"/>
                </a:solidFill>
                <a:latin typeface="Calibri Light" pitchFamily="34" charset="0"/>
              </a:defRPr>
            </a:lvl4pPr>
            <a:lvl5pPr algn="l" rtl="0" fontAlgn="base">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a:lstStyle>
          <a:p>
            <a:pPr eaLnBrk="1" hangingPunct="1"/>
            <a:r>
              <a:rPr lang="en-GB" sz="2400" dirty="0"/>
              <a:t>GAT- Check Input File against Dictionary</a:t>
            </a:r>
            <a:endParaRPr lang="en-IN" sz="2400" dirty="0"/>
          </a:p>
        </p:txBody>
      </p:sp>
      <p:sp>
        <p:nvSpPr>
          <p:cNvPr id="2" name="Content Placeholder 1">
            <a:extLst>
              <a:ext uri="{FF2B5EF4-FFF2-40B4-BE49-F238E27FC236}">
                <a16:creationId xmlns:a16="http://schemas.microsoft.com/office/drawing/2014/main" id="{ED1FB499-46D3-65C1-432F-78A225C45DA7}"/>
              </a:ext>
            </a:extLst>
          </p:cNvPr>
          <p:cNvSpPr>
            <a:spLocks noGrp="1"/>
          </p:cNvSpPr>
          <p:nvPr>
            <p:ph sz="half" idx="1"/>
          </p:nvPr>
        </p:nvSpPr>
        <p:spPr/>
        <p:txBody>
          <a:bodyPr/>
          <a:lstStyle/>
          <a:p>
            <a:endParaRPr lang="en-IN"/>
          </a:p>
        </p:txBody>
      </p:sp>
      <p:pic>
        <p:nvPicPr>
          <p:cNvPr id="5" name="Picture 4">
            <a:extLst>
              <a:ext uri="{FF2B5EF4-FFF2-40B4-BE49-F238E27FC236}">
                <a16:creationId xmlns:a16="http://schemas.microsoft.com/office/drawing/2014/main" id="{4011690F-E8D4-E358-E378-FAB7211C7962}"/>
              </a:ext>
            </a:extLst>
          </p:cNvPr>
          <p:cNvPicPr>
            <a:picLocks noChangeAspect="1"/>
          </p:cNvPicPr>
          <p:nvPr/>
        </p:nvPicPr>
        <p:blipFill>
          <a:blip r:embed="rId3"/>
          <a:stretch>
            <a:fillRect/>
          </a:stretch>
        </p:blipFill>
        <p:spPr>
          <a:xfrm>
            <a:off x="838200" y="1837401"/>
            <a:ext cx="5181600" cy="43395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3"/>
          <p:cNvSpPr>
            <a:spLocks noGrp="1"/>
          </p:cNvSpPr>
          <p:nvPr>
            <p:ph sz="half" idx="2"/>
          </p:nvPr>
        </p:nvSpPr>
        <p:spPr>
          <a:xfrm>
            <a:off x="6272350" y="1309603"/>
            <a:ext cx="5181600" cy="5097780"/>
          </a:xfrm>
        </p:spPr>
        <p:txBody>
          <a:bodyPr/>
          <a:lstStyle/>
          <a:p>
            <a:r>
              <a:rPr lang="en-IN" sz="1800" dirty="0"/>
              <a:t>To upload the data to the tool, click on ‘Download Input File Template’ link and fill-up the input file data in this format. Save the file.</a:t>
            </a:r>
          </a:p>
          <a:p>
            <a:r>
              <a:rPr lang="en-IN" sz="1800" dirty="0"/>
              <a:t>If input file data has to be checked against dictionary, then click on ‘Download Dictionary File Template’ link and fill-up the dictionary file data in this format. Save the file.</a:t>
            </a:r>
          </a:p>
          <a:p>
            <a:r>
              <a:rPr lang="en-IN" sz="1800" dirty="0"/>
              <a:t>Upload both the files, Input file and Dictionary file.</a:t>
            </a:r>
          </a:p>
          <a:p>
            <a:r>
              <a:rPr lang="en-IN" sz="1800" dirty="0"/>
              <a:t>Click on ‘Validate and Check’ button to check the data from this input file.</a:t>
            </a:r>
          </a:p>
          <a:p>
            <a:r>
              <a:rPr lang="en-IN" sz="1800" dirty="0"/>
              <a:t>After successful upload of file(s), input format check will be applied, this should be same as template format.</a:t>
            </a:r>
          </a:p>
          <a:p>
            <a:r>
              <a:rPr lang="en-IN" sz="1800" dirty="0"/>
              <a:t>If input file row has attributes not matching to attributes from dictionary, then application writes the input file row with dictionary row to the second worksheet of input file </a:t>
            </a:r>
          </a:p>
        </p:txBody>
      </p:sp>
      <p:pic>
        <p:nvPicPr>
          <p:cNvPr id="2" name="Picture 1">
            <a:extLst>
              <a:ext uri="{FF2B5EF4-FFF2-40B4-BE49-F238E27FC236}">
                <a16:creationId xmlns:a16="http://schemas.microsoft.com/office/drawing/2014/main" id="{06E54640-610F-DF4F-3AD7-01EF1C1EBBF6}"/>
              </a:ext>
            </a:extLst>
          </p:cNvPr>
          <p:cNvPicPr>
            <a:picLocks noChangeAspect="1"/>
          </p:cNvPicPr>
          <p:nvPr/>
        </p:nvPicPr>
        <p:blipFill>
          <a:blip r:embed="rId2"/>
          <a:stretch>
            <a:fillRect/>
          </a:stretch>
        </p:blipFill>
        <p:spPr>
          <a:xfrm>
            <a:off x="566329" y="1460883"/>
            <a:ext cx="5353323" cy="4483379"/>
          </a:xfrm>
          <a:prstGeom prst="rect">
            <a:avLst/>
          </a:prstGeom>
        </p:spPr>
      </p:pic>
      <p:sp>
        <p:nvSpPr>
          <p:cNvPr id="3" name="Title 1">
            <a:extLst>
              <a:ext uri="{FF2B5EF4-FFF2-40B4-BE49-F238E27FC236}">
                <a16:creationId xmlns:a16="http://schemas.microsoft.com/office/drawing/2014/main" id="{BC2177D1-757E-E316-46A4-38BF211EF76B}"/>
              </a:ext>
            </a:extLst>
          </p:cNvPr>
          <p:cNvSpPr txBox="1">
            <a:spLocks/>
          </p:cNvSpPr>
          <p:nvPr/>
        </p:nvSpPr>
        <p:spPr bwMode="auto">
          <a:xfrm>
            <a:off x="541020" y="296544"/>
            <a:ext cx="5886673" cy="101790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defRPr>
            </a:lvl2pPr>
            <a:lvl3pPr algn="l" rtl="0" fontAlgn="base">
              <a:lnSpc>
                <a:spcPct val="90000"/>
              </a:lnSpc>
              <a:spcBef>
                <a:spcPct val="0"/>
              </a:spcBef>
              <a:spcAft>
                <a:spcPct val="0"/>
              </a:spcAft>
              <a:defRPr sz="4400">
                <a:solidFill>
                  <a:schemeClr val="tx1"/>
                </a:solidFill>
                <a:latin typeface="Calibri Light" pitchFamily="34" charset="0"/>
              </a:defRPr>
            </a:lvl3pPr>
            <a:lvl4pPr algn="l" rtl="0" fontAlgn="base">
              <a:lnSpc>
                <a:spcPct val="90000"/>
              </a:lnSpc>
              <a:spcBef>
                <a:spcPct val="0"/>
              </a:spcBef>
              <a:spcAft>
                <a:spcPct val="0"/>
              </a:spcAft>
              <a:defRPr sz="4400">
                <a:solidFill>
                  <a:schemeClr val="tx1"/>
                </a:solidFill>
                <a:latin typeface="Calibri Light" pitchFamily="34" charset="0"/>
              </a:defRPr>
            </a:lvl4pPr>
            <a:lvl5pPr algn="l" rtl="0" fontAlgn="base">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a:lstStyle>
          <a:p>
            <a:pPr eaLnBrk="1" hangingPunct="1"/>
            <a:r>
              <a:rPr lang="en-GB" sz="2400" dirty="0"/>
              <a:t>GAT- Check Input File against Dictionary</a:t>
            </a:r>
            <a:endParaRPr lang="en-I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272350" y="1270745"/>
            <a:ext cx="5181600" cy="5098732"/>
          </a:xfrm>
        </p:spPr>
        <p:txBody>
          <a:bodyPr/>
          <a:lstStyle/>
          <a:p>
            <a:pPr algn="just"/>
            <a:r>
              <a:rPr lang="en-IN" sz="1800" dirty="0"/>
              <a:t>Application first checks the Noun and Modifier from input file exists in dictionary or not. If not, it writes that unmatched noun and modifier to the second worksheet of input file. The same way, application checks all the attributes from input file matches to the attributes in dictionary, if not, it writes the input file row and dictionary row to the second worksheet of input file. Saves this file as output file. </a:t>
            </a:r>
          </a:p>
          <a:p>
            <a:pPr algn="just"/>
            <a:r>
              <a:rPr lang="en-IN" sz="1800" dirty="0"/>
              <a:t>Following types of errors are checked by this tool,</a:t>
            </a:r>
          </a:p>
          <a:p>
            <a:pPr lvl="1" algn="just"/>
            <a:r>
              <a:rPr lang="en-IN" sz="1600" dirty="0"/>
              <a:t>Input row must have unique attribute names.</a:t>
            </a:r>
          </a:p>
          <a:p>
            <a:pPr lvl="1" algn="just"/>
            <a:r>
              <a:rPr lang="en-IN" sz="1600" dirty="0"/>
              <a:t>Input row should not have any intermediate blank attribute.</a:t>
            </a:r>
          </a:p>
          <a:p>
            <a:pPr lvl="1" algn="just"/>
            <a:r>
              <a:rPr lang="en-IN" sz="1600" dirty="0"/>
              <a:t>For each noun-modifier, attribute names must be unique (vertically).</a:t>
            </a:r>
          </a:p>
          <a:p>
            <a:pPr lvl="1" algn="just"/>
            <a:r>
              <a:rPr lang="en-IN" sz="1600" dirty="0"/>
              <a:t>Attributes must be same for all input items of a noun-modifier and this order should match to the order of attributes in dictionary.</a:t>
            </a:r>
          </a:p>
          <a:p>
            <a:pPr marL="0" indent="0" algn="just">
              <a:buNone/>
            </a:pPr>
            <a:endParaRPr lang="en-IN" sz="1800" dirty="0"/>
          </a:p>
        </p:txBody>
      </p:sp>
      <p:pic>
        <p:nvPicPr>
          <p:cNvPr id="2" name="Picture 1">
            <a:extLst>
              <a:ext uri="{FF2B5EF4-FFF2-40B4-BE49-F238E27FC236}">
                <a16:creationId xmlns:a16="http://schemas.microsoft.com/office/drawing/2014/main" id="{525E65E0-60C6-BF6C-14D0-821A50310A69}"/>
              </a:ext>
            </a:extLst>
          </p:cNvPr>
          <p:cNvPicPr>
            <a:picLocks noChangeAspect="1"/>
          </p:cNvPicPr>
          <p:nvPr/>
        </p:nvPicPr>
        <p:blipFill>
          <a:blip r:embed="rId2"/>
          <a:stretch>
            <a:fillRect/>
          </a:stretch>
        </p:blipFill>
        <p:spPr>
          <a:xfrm>
            <a:off x="566329" y="1460883"/>
            <a:ext cx="5353323" cy="4483379"/>
          </a:xfrm>
          <a:prstGeom prst="rect">
            <a:avLst/>
          </a:prstGeom>
        </p:spPr>
      </p:pic>
      <p:sp>
        <p:nvSpPr>
          <p:cNvPr id="3" name="Title 1">
            <a:extLst>
              <a:ext uri="{FF2B5EF4-FFF2-40B4-BE49-F238E27FC236}">
                <a16:creationId xmlns:a16="http://schemas.microsoft.com/office/drawing/2014/main" id="{DDADBF96-C326-2B06-124C-441FAE01F3C8}"/>
              </a:ext>
            </a:extLst>
          </p:cNvPr>
          <p:cNvSpPr txBox="1">
            <a:spLocks/>
          </p:cNvSpPr>
          <p:nvPr/>
        </p:nvSpPr>
        <p:spPr bwMode="auto">
          <a:xfrm>
            <a:off x="541020" y="296544"/>
            <a:ext cx="5886673" cy="101790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itchFamily="34" charset="0"/>
              </a:defRPr>
            </a:lvl2pPr>
            <a:lvl3pPr algn="l" rtl="0" fontAlgn="base">
              <a:lnSpc>
                <a:spcPct val="90000"/>
              </a:lnSpc>
              <a:spcBef>
                <a:spcPct val="0"/>
              </a:spcBef>
              <a:spcAft>
                <a:spcPct val="0"/>
              </a:spcAft>
              <a:defRPr sz="4400">
                <a:solidFill>
                  <a:schemeClr val="tx1"/>
                </a:solidFill>
                <a:latin typeface="Calibri Light" pitchFamily="34" charset="0"/>
              </a:defRPr>
            </a:lvl3pPr>
            <a:lvl4pPr algn="l" rtl="0" fontAlgn="base">
              <a:lnSpc>
                <a:spcPct val="90000"/>
              </a:lnSpc>
              <a:spcBef>
                <a:spcPct val="0"/>
              </a:spcBef>
              <a:spcAft>
                <a:spcPct val="0"/>
              </a:spcAft>
              <a:defRPr sz="4400">
                <a:solidFill>
                  <a:schemeClr val="tx1"/>
                </a:solidFill>
                <a:latin typeface="Calibri Light" pitchFamily="34" charset="0"/>
              </a:defRPr>
            </a:lvl4pPr>
            <a:lvl5pPr algn="l" rtl="0" fontAlgn="base">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a:lstStyle>
          <a:p>
            <a:pPr eaLnBrk="1" hangingPunct="1"/>
            <a:r>
              <a:rPr lang="en-GB" sz="2400" dirty="0"/>
              <a:t>GAT- Check Input File against Dictionary</a:t>
            </a:r>
            <a:endParaRPr lang="en-IN"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1105</TotalTime>
  <Words>364</Words>
  <Application>Microsoft Office PowerPoint</Application>
  <PresentationFormat>Widescreen</PresentationFormat>
  <Paragraphs>20</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User Guide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Guide</dc:title>
  <dc:creator>Rajasimhan Namadevan</dc:creator>
  <cp:lastModifiedBy>Vinod R Chougule</cp:lastModifiedBy>
  <cp:revision>78</cp:revision>
  <dcterms:created xsi:type="dcterms:W3CDTF">2014-06-05T12:16:43Z</dcterms:created>
  <dcterms:modified xsi:type="dcterms:W3CDTF">2025-09-23T08:46:22Z</dcterms:modified>
</cp:coreProperties>
</file>