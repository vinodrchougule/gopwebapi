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9" r:id="rId3"/>
    <p:sldId id="265" r:id="rId4"/>
    <p:sldId id="273" r:id="rId5"/>
    <p:sldId id="274" r:id="rId6"/>
    <p:sldId id="275" r:id="rId7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396D5-2E5D-4F2D-8C19-D2AE1684F36D}" type="datetimeFigureOut">
              <a:rPr lang="en-IN" smtClean="0"/>
              <a:t>23-11-2023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4CF631-D59F-4720-8AAA-BA6734259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3314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1DE28A-DEAD-4D3D-9F2A-A8B9C5562D13}" type="datetime1">
              <a:rPr lang="en-IN" smtClean="0"/>
              <a:t>23-11-2023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2EC9C8-89D8-4861-810C-5B04966122EF}" type="slidenum">
              <a:rPr lang="en-IN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7ACD04-1DEC-4667-B738-67C8DAC82B70}" type="datetime1">
              <a:rPr lang="en-IN" smtClean="0"/>
              <a:t>23-11-2023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8C37F9-B7F0-43C8-8C5E-49BB0F860D62}" type="slidenum">
              <a:rPr lang="en-IN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CF527F-E864-4951-A238-D11D190EA344}" type="datetime1">
              <a:rPr lang="en-IN" smtClean="0"/>
              <a:t>23-11-2023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28C7B7-1056-425B-ADFF-D776953A4164}" type="slidenum">
              <a:rPr lang="en-IN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EF562-AEDE-45F9-8615-4DA826A861B5}" type="datetime1">
              <a:rPr lang="en-IN" smtClean="0"/>
              <a:t>23-11-2023</a:t>
            </a:fld>
            <a:endParaRPr lang="en-IN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8AD595-F121-42D4-AC66-477E0EBAE420}" type="slidenum">
              <a:rPr lang="en-IN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A2AA39-1D4B-44AF-A424-8245ACEC9664}" type="datetime1">
              <a:rPr lang="en-IN" smtClean="0"/>
              <a:t>23-11-2023</a:t>
            </a:fld>
            <a:endParaRPr lang="en-IN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904BF4-A4F8-4059-9A83-C1D5EAAC1040}" type="slidenum">
              <a:rPr lang="en-IN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B83F74-5E08-4F8C-A89C-AAE1649649C5}" type="datetime1">
              <a:rPr lang="en-IN" smtClean="0"/>
              <a:t>23-11-2023</a:t>
            </a:fld>
            <a:endParaRPr lang="en-IN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BCB979-E05B-42A5-BA39-E536DCC1D028}" type="slidenum">
              <a:rPr lang="en-IN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AC4340-3088-4106-ABD1-2BCD871BB0B1}" type="datetime1">
              <a:rPr lang="en-IN" smtClean="0"/>
              <a:t>23-11-2023</a:t>
            </a:fld>
            <a:endParaRPr lang="en-IN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B26868-D98B-495B-9716-2850EE113E99}" type="slidenum">
              <a:rPr lang="en-IN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896A96-3359-411F-999E-09EDE6791602}" type="datetime1">
              <a:rPr lang="en-IN" smtClean="0"/>
              <a:t>23-11-2023</a:t>
            </a:fld>
            <a:endParaRPr lang="en-IN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A89833-E92D-41FE-AF4A-EF76727E68E2}" type="slidenum">
              <a:rPr lang="en-IN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0827EC-9576-468A-A522-FE3BEBDC6E13}" type="datetime1">
              <a:rPr lang="en-IN" smtClean="0"/>
              <a:t>23-11-2023</a:t>
            </a:fld>
            <a:endParaRPr lang="en-IN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58735E-EAFB-4F10-AC3A-EE8BA6F8FA9B}" type="slidenum">
              <a:rPr lang="en-IN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47396E-2A20-4F02-B93E-ED8A9FF18D3D}" type="datetime1">
              <a:rPr lang="en-IN" smtClean="0"/>
              <a:t>23-11-2023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08D67F-1FAA-4426-AA7B-86B39A22FF1D}" type="slidenum">
              <a:rPr lang="en-IN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F4B5C8-2662-425C-B09A-E48E856ED11A}" type="datetime1">
              <a:rPr lang="en-IN" smtClean="0"/>
              <a:t>23-11-2023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D1D8C7-1DBC-4966-BF0E-CDBECF06F926}" type="slidenum">
              <a:rPr lang="en-IN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06639F7-C2EA-427A-A3E5-30C7FF1B2D1C}" type="datetime1">
              <a:rPr lang="en-IN" smtClean="0"/>
              <a:t>23-11-2023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EB0711D7-048C-4107-A28A-C2FC74E44461}" type="slidenum">
              <a:rPr lang="en-IN"/>
              <a:pPr/>
              <a:t>‹#›</a:t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User Guide</a:t>
            </a:r>
          </a:p>
        </p:txBody>
      </p:sp>
      <p:sp>
        <p:nvSpPr>
          <p:cNvPr id="2051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1" dirty="0"/>
              <a:t>SNOMED Searcher </a:t>
            </a:r>
            <a:endParaRPr lang="en-IN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 rot="21350491">
            <a:off x="11075670" y="6356350"/>
            <a:ext cx="312420" cy="365125"/>
          </a:xfrm>
          <a:noFill/>
        </p:spPr>
        <p:txBody>
          <a:bodyPr/>
          <a:lstStyle/>
          <a:p>
            <a:fld id="{472EC9C8-89D8-4861-810C-5B04966122EF}" type="slidenum">
              <a:rPr lang="en-IN" smtClean="0"/>
              <a:pPr/>
              <a:t>1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Griha Software Technologies Pvt. Ltd.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2185"/>
          </a:xfrm>
        </p:spPr>
        <p:txBody>
          <a:bodyPr/>
          <a:lstStyle/>
          <a:p>
            <a:br>
              <a:rPr lang="en-IN" b="1" dirty="0"/>
            </a:br>
            <a:r>
              <a:rPr lang="en-IN" b="1" dirty="0"/>
              <a:t>What is SNOMED-CT?</a:t>
            </a:r>
            <a:br>
              <a:rPr lang="en-US" dirty="0"/>
            </a:br>
            <a:endParaRPr lang="en-US" dirty="0"/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32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US" sz="32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Systematized Nomenclature of Medicine</a:t>
            </a:r>
            <a:r>
              <a:rPr lang="en-US" sz="32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- </a:t>
            </a:r>
            <a:r>
              <a:rPr lang="en-US" sz="32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Clinical Terms</a:t>
            </a:r>
            <a:r>
              <a:rPr lang="en-US" sz="32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(</a:t>
            </a:r>
            <a:r>
              <a:rPr lang="en-US" sz="32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SNOMED - CT</a:t>
            </a:r>
            <a:r>
              <a:rPr lang="en-US" sz="32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 is a systematic, computer-processable collection of medical terms, in human and veterinary medicine, to provide codes, terms, synonyms and definitions which cover anatomy, diseases, findings, procedures, microorganisms, substances, etc. It allows a consistent way to index, store, retrieve, and aggregate medical data across specialties and sites of care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C37F9-B7F0-43C8-8C5E-49BB0F860D62}" type="slidenum">
              <a:rPr lang="en-IN" smtClean="0"/>
              <a:pPr/>
              <a:t>2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Griha Software Technologies Pvt. Ltd.</a:t>
            </a:r>
          </a:p>
        </p:txBody>
      </p:sp>
    </p:spTree>
    <p:extLst>
      <p:ext uri="{BB962C8B-B14F-4D97-AF65-F5344CB8AC3E}">
        <p14:creationId xmlns:p14="http://schemas.microsoft.com/office/powerpoint/2010/main" val="1768398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/>
              <a:t>Benefits of SNOMED - CT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5777" y="2261207"/>
            <a:ext cx="10515600" cy="3225897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12529"/>
                </a:solidFill>
                <a:effectLst/>
                <a:latin typeface="Roboto" panose="02000000000000000000" pitchFamily="2" charset="0"/>
              </a:rPr>
              <a:t>Health information can be shared consistently within and across healthcare settings.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12529"/>
                </a:solidFill>
                <a:effectLst/>
                <a:latin typeface="Roboto" panose="02000000000000000000" pitchFamily="2" charset="0"/>
              </a:rPr>
              <a:t>Data can be organized, queried, and analyzed for the benefit of the individual and institution.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12529"/>
                </a:solidFill>
                <a:effectLst/>
                <a:latin typeface="Roboto" panose="02000000000000000000" pitchFamily="2" charset="0"/>
              </a:rPr>
              <a:t>The risk of different interpretations of the record between different healthcare settings can be reduced.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12529"/>
                </a:solidFill>
                <a:effectLst/>
                <a:latin typeface="Roboto" panose="02000000000000000000" pitchFamily="2" charset="0"/>
              </a:rPr>
              <a:t>Updated twice a year to help users keep pace with the advances of healthcare terminology and add to the scope of coverage.</a:t>
            </a:r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C37F9-B7F0-43C8-8C5E-49BB0F860D62}" type="slidenum">
              <a:rPr lang="en-IN" smtClean="0"/>
              <a:pPr/>
              <a:t>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Griha Software Technologies Pvt. Ltd.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147C12-4C2F-9F34-5611-5EBBCB02C94C}"/>
              </a:ext>
            </a:extLst>
          </p:cNvPr>
          <p:cNvSpPr txBox="1"/>
          <p:nvPr/>
        </p:nvSpPr>
        <p:spPr>
          <a:xfrm>
            <a:off x="838200" y="1775892"/>
            <a:ext cx="96908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dirty="0">
                <a:solidFill>
                  <a:srgbClr val="212529"/>
                </a:solidFill>
                <a:effectLst/>
                <a:latin typeface="Roboto" panose="02000000000000000000" pitchFamily="2" charset="0"/>
              </a:rPr>
              <a:t>There are many benefits of using </a:t>
            </a:r>
            <a:r>
              <a:rPr lang="en-US" sz="2000" b="0" i="0" dirty="0">
                <a:solidFill>
                  <a:srgbClr val="212529"/>
                </a:solidFill>
                <a:effectLst/>
                <a:latin typeface="Roboto" panose="02000000000000000000" pitchFamily="2" charset="0"/>
              </a:rPr>
              <a:t>SNOMED</a:t>
            </a:r>
            <a:r>
              <a:rPr lang="en-US" sz="1800" b="0" i="0" dirty="0">
                <a:solidFill>
                  <a:srgbClr val="212529"/>
                </a:solidFill>
                <a:effectLst/>
                <a:latin typeface="Roboto" panose="02000000000000000000" pitchFamily="2" charset="0"/>
              </a:rPr>
              <a:t> CT in Electronic Health Records including: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C37F9-B7F0-43C8-8C5E-49BB0F860D62}" type="slidenum">
              <a:rPr lang="en-IN" smtClean="0"/>
              <a:pPr/>
              <a:t>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Griha Software Technologies Pvt. Ltd.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C55C23A-02CC-2E49-822C-A108254A0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559" y="1114976"/>
            <a:ext cx="9814241" cy="5241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21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C37F9-B7F0-43C8-8C5E-49BB0F860D62}" type="slidenum">
              <a:rPr lang="en-IN" smtClean="0"/>
              <a:pPr/>
              <a:t>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Griha Software Technologies Pvt. Ltd.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9B7342-7053-D2A6-98F9-8869EF660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30" y="773407"/>
            <a:ext cx="11161059" cy="5311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262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/>
              <a:t>How to use SNOMED – CT Searcher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1960"/>
            <a:ext cx="10515600" cy="3225897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12529"/>
                </a:solidFill>
                <a:latin typeface="Roboto" panose="02000000000000000000" pitchFamily="2" charset="0"/>
              </a:rPr>
              <a:t>Click on SNOMED menu at the top. Application shows the SNOMED Searcher page.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12529"/>
                </a:solidFill>
                <a:latin typeface="Roboto" panose="02000000000000000000" pitchFamily="2" charset="0"/>
              </a:rPr>
              <a:t>Enter Concept term you would like to search and click on Search button. Optionally, you can enter up to 4 different search terms and click on Search button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12529"/>
                </a:solidFill>
                <a:latin typeface="Roboto" panose="02000000000000000000" pitchFamily="2" charset="0"/>
              </a:rPr>
              <a:t>Application shows the active concept terms with concept id with no. of concepts matching the search term(s)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12529"/>
                </a:solidFill>
                <a:latin typeface="Roboto" panose="02000000000000000000" pitchFamily="2" charset="0"/>
              </a:rPr>
              <a:t>Double click on row to view synonyms, Parents and, children of any concept with no. of rows matching for each.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12529"/>
                </a:solidFill>
                <a:latin typeface="Roboto" panose="02000000000000000000" pitchFamily="2" charset="0"/>
              </a:rPr>
              <a:t>Clear all the search results by clicking on “Clear All Search” button on left top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12529"/>
              </a:solidFill>
              <a:latin typeface="Roboto" panose="02000000000000000000" pitchFamily="2" charset="0"/>
            </a:endParaRPr>
          </a:p>
          <a:p>
            <a:pPr marL="0" indent="0" algn="l">
              <a:buNone/>
            </a:pPr>
            <a:endParaRPr lang="en-US" sz="2000" dirty="0">
              <a:solidFill>
                <a:srgbClr val="212529"/>
              </a:solidFill>
              <a:latin typeface="Roboto" panose="02000000000000000000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C37F9-B7F0-43C8-8C5E-49BB0F860D62}" type="slidenum">
              <a:rPr lang="en-IN" smtClean="0"/>
              <a:pPr/>
              <a:t>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Griha Software Technologies Pvt. Ltd.</a:t>
            </a:r>
          </a:p>
        </p:txBody>
      </p:sp>
    </p:spTree>
    <p:extLst>
      <p:ext uri="{BB962C8B-B14F-4D97-AF65-F5344CB8AC3E}">
        <p14:creationId xmlns:p14="http://schemas.microsoft.com/office/powerpoint/2010/main" val="2539171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1427</TotalTime>
  <Words>336</Words>
  <Application>Microsoft Office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Roboto</vt:lpstr>
      <vt:lpstr>Wingdings</vt:lpstr>
      <vt:lpstr>Office Theme</vt:lpstr>
      <vt:lpstr>User Guide</vt:lpstr>
      <vt:lpstr> What is SNOMED-CT? </vt:lpstr>
      <vt:lpstr>Benefits of SNOMED - CT</vt:lpstr>
      <vt:lpstr>PowerPoint Presentation</vt:lpstr>
      <vt:lpstr>PowerPoint Presentation</vt:lpstr>
      <vt:lpstr>How to use SNOMED – CT Searcher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Guide</dc:title>
  <dc:creator>Rajasimhan Namadevan</dc:creator>
  <cp:lastModifiedBy>Vinod R Chougule</cp:lastModifiedBy>
  <cp:revision>148</cp:revision>
  <dcterms:created xsi:type="dcterms:W3CDTF">2014-06-05T12:16:43Z</dcterms:created>
  <dcterms:modified xsi:type="dcterms:W3CDTF">2023-11-23T04:17:45Z</dcterms:modified>
</cp:coreProperties>
</file>